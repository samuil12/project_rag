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8" r:id="rId13"/>
    <p:sldId id="269" r:id="rId14"/>
    <p:sldId id="273" r:id="rId15"/>
    <p:sldId id="272" r:id="rId16"/>
  </p:sldIdLst>
  <p:sldSz cx="12192000" cy="6858000"/>
  <p:notesSz cx="6858000" cy="9144000"/>
  <p:defaultTextStyle>
    <a:defPPr>
      <a:defRPr lang="bg-BG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4" d="100"/>
          <a:sy n="74" d="100"/>
        </p:scale>
        <p:origin x="1013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589213" y="2514600"/>
            <a:ext cx="8915399" cy="2262781"/>
          </a:xfrm>
        </p:spPr>
        <p:txBody>
          <a:bodyPr anchor="b">
            <a:normAutofit/>
          </a:bodyPr>
          <a:lstStyle>
            <a:lvl1pPr>
              <a:defRPr sz="5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89213" y="4777379"/>
            <a:ext cx="8915399" cy="1126283"/>
          </a:xfrm>
        </p:spPr>
        <p:txBody>
          <a:bodyPr anchor="t"/>
          <a:lstStyle>
            <a:lvl1pPr marL="0" indent="0" algn="l">
              <a:buNone/>
              <a:defRPr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11.6.2026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Freeform 6"/>
          <p:cNvSpPr/>
          <p:nvPr/>
        </p:nvSpPr>
        <p:spPr bwMode="auto">
          <a:xfrm>
            <a:off x="0" y="4323810"/>
            <a:ext cx="1744652" cy="778589"/>
          </a:xfrm>
          <a:custGeom>
            <a:avLst/>
            <a:gdLst/>
            <a:ahLst/>
            <a:cxnLst/>
            <a:rect l="0" t="0" r="r" b="b"/>
            <a:pathLst>
              <a:path w="372" h="166">
                <a:moveTo>
                  <a:pt x="287" y="166"/>
                </a:moveTo>
                <a:cubicBezTo>
                  <a:pt x="290" y="166"/>
                  <a:pt x="292" y="165"/>
                  <a:pt x="293" y="164"/>
                </a:cubicBezTo>
                <a:cubicBezTo>
                  <a:pt x="293" y="163"/>
                  <a:pt x="294" y="163"/>
                  <a:pt x="294" y="163"/>
                </a:cubicBezTo>
                <a:cubicBezTo>
                  <a:pt x="370" y="87"/>
                  <a:pt x="370" y="87"/>
                  <a:pt x="370" y="87"/>
                </a:cubicBezTo>
                <a:cubicBezTo>
                  <a:pt x="372" y="85"/>
                  <a:pt x="372" y="81"/>
                  <a:pt x="370" y="78"/>
                </a:cubicBezTo>
                <a:cubicBezTo>
                  <a:pt x="294" y="3"/>
                  <a:pt x="294" y="3"/>
                  <a:pt x="294" y="3"/>
                </a:cubicBezTo>
                <a:cubicBezTo>
                  <a:pt x="294" y="2"/>
                  <a:pt x="293" y="2"/>
                  <a:pt x="293" y="2"/>
                </a:cubicBezTo>
                <a:cubicBezTo>
                  <a:pt x="292" y="1"/>
                  <a:pt x="290" y="0"/>
                  <a:pt x="287" y="0"/>
                </a:cubicBezTo>
                <a:cubicBezTo>
                  <a:pt x="0" y="0"/>
                  <a:pt x="0" y="0"/>
                  <a:pt x="0" y="0"/>
                </a:cubicBezTo>
                <a:cubicBezTo>
                  <a:pt x="0" y="166"/>
                  <a:pt x="0" y="166"/>
                  <a:pt x="0" y="166"/>
                </a:cubicBezTo>
                <a:lnTo>
                  <a:pt x="287" y="166"/>
                </a:ln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4529540"/>
            <a:ext cx="779767" cy="365125"/>
          </a:xfrm>
        </p:spPr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126414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92925" y="624110"/>
            <a:ext cx="8911687" cy="128089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8915400" cy="377762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11.6.2026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418500677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2058750"/>
            <a:ext cx="8915399" cy="146880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3530129"/>
            <a:ext cx="8915399" cy="860400"/>
          </a:xfrm>
        </p:spPr>
        <p:txBody>
          <a:bodyPr anchor="t"/>
          <a:lstStyle>
            <a:lvl1pPr marL="0" indent="0" algn="l">
              <a:buNone/>
              <a:defRPr sz="20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11.6.2026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2223293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2589212" y="2133600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7190747" y="2126222"/>
            <a:ext cx="4313864" cy="3777622"/>
          </a:xfrm>
        </p:spPr>
        <p:txBody>
          <a:bodyPr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11.6.2026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10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1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9023304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939373" y="1972703"/>
            <a:ext cx="3992732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2589212" y="2548966"/>
            <a:ext cx="4342893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506629" y="1969475"/>
            <a:ext cx="399900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7166957" y="2545738"/>
            <a:ext cx="4338674" cy="3354060"/>
          </a:xfrm>
        </p:spPr>
        <p:txBody>
          <a:bodyPr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11.6.2026 г.</a:t>
            </a:fld>
            <a:endParaRPr lang="bg-BG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12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13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787782"/>
            <a:ext cx="779767" cy="365125"/>
          </a:xfrm>
        </p:spPr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08838371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11.6.2026 г.</a:t>
            </a:fld>
            <a:endParaRPr lang="bg-BG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7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74561251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11.6.2026 г.</a:t>
            </a:fld>
            <a:endParaRPr lang="bg-BG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6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42569170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446088"/>
            <a:ext cx="3505199" cy="976312"/>
          </a:xfrm>
        </p:spPr>
        <p:txBody>
          <a:bodyPr anchor="b"/>
          <a:lstStyle>
            <a:lvl1pPr algn="l">
              <a:defRPr sz="20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323012" y="446088"/>
            <a:ext cx="5181600" cy="5414963"/>
          </a:xfrm>
        </p:spPr>
        <p:txBody>
          <a:bodyPr anchor="ctr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2" y="1598613"/>
            <a:ext cx="3505199" cy="426243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11.6.2026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63765781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4800600"/>
            <a:ext cx="8915400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589212" y="634965"/>
            <a:ext cx="8915400" cy="3854970"/>
          </a:xfrm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367338"/>
            <a:ext cx="8915400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11.6.2026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14450613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09600"/>
            <a:ext cx="8915399" cy="311704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11.6.2026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9422491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3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3275012" y="3505200"/>
            <a:ext cx="7536554" cy="381000"/>
          </a:xfrm>
        </p:spPr>
        <p:txBody>
          <a:bodyPr anchor="ctr">
            <a:noAutofit/>
          </a:bodyPr>
          <a:lstStyle>
            <a:lvl1pPr marL="0" indent="0">
              <a:buFontTx/>
              <a:buNone/>
              <a:defRPr sz="1600"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4354046"/>
            <a:ext cx="8915399" cy="1555864"/>
          </a:xfrm>
        </p:spPr>
        <p:txBody>
          <a:bodyPr anchor="ctr">
            <a:normAutofit/>
          </a:bodyPr>
          <a:lstStyle>
            <a:lvl1pPr marL="0" indent="0" algn="l">
              <a:buNone/>
              <a:defRPr sz="18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11.6.2026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31781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531812" y="3244139"/>
            <a:ext cx="779767" cy="365125"/>
          </a:xfrm>
        </p:spPr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  <p:sp>
        <p:nvSpPr>
          <p:cNvPr id="14" name="TextBox 13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42711235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3" y="2438400"/>
            <a:ext cx="8915400" cy="2724845"/>
          </a:xfrm>
        </p:spPr>
        <p:txBody>
          <a:bodyPr anchor="b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11.6.2026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3727080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Title 1"/>
          <p:cNvSpPr>
            <a:spLocks noGrp="1"/>
          </p:cNvSpPr>
          <p:nvPr>
            <p:ph type="title"/>
          </p:nvPr>
        </p:nvSpPr>
        <p:spPr>
          <a:xfrm>
            <a:off x="2849949" y="609600"/>
            <a:ext cx="8393926" cy="2895600"/>
          </a:xfrm>
        </p:spPr>
        <p:txBody>
          <a:bodyPr anchor="ctr">
            <a:normAutofit/>
          </a:bodyPr>
          <a:lstStyle>
            <a:lvl1pPr algn="l">
              <a:defRPr sz="4800" b="0" cap="none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11.6.2026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11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  <p:sp>
        <p:nvSpPr>
          <p:cNvPr id="17" name="TextBox 16"/>
          <p:cNvSpPr txBox="1"/>
          <p:nvPr/>
        </p:nvSpPr>
        <p:spPr>
          <a:xfrm>
            <a:off x="2467652" y="648005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“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114852" y="290530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baseline="0" dirty="0">
                <a:ln w="3175" cmpd="sng">
                  <a:noFill/>
                </a:ln>
                <a:solidFill>
                  <a:schemeClr val="accent1"/>
                </a:solidFill>
                <a:effectLst/>
                <a:latin typeface="Arial"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26511199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rue or Fals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89212" y="627407"/>
            <a:ext cx="8915399" cy="2880020"/>
          </a:xfrm>
        </p:spPr>
        <p:txBody>
          <a:bodyPr anchor="ctr">
            <a:normAutofit/>
          </a:bodyPr>
          <a:lstStyle>
            <a:lvl1pPr algn="l">
              <a:defRPr sz="4800" b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21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2589212" y="4343400"/>
            <a:ext cx="8915400" cy="838200"/>
          </a:xfrm>
        </p:spPr>
        <p:txBody>
          <a:bodyPr anchor="b">
            <a:noAutofit/>
          </a:bodyPr>
          <a:lstStyle>
            <a:lvl1pPr marL="0" indent="0">
              <a:buFontTx/>
              <a:buNone/>
              <a:defRPr sz="2400">
                <a:solidFill>
                  <a:schemeClr val="accent1"/>
                </a:solidFill>
              </a:defRPr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589213" y="5181600"/>
            <a:ext cx="8915400" cy="729622"/>
          </a:xfrm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pPr marL="0" lvl="0" indent="0">
              <a:buNone/>
            </a:pPr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11.6.2026 г.</a:t>
            </a:fld>
            <a:endParaRPr lang="bg-BG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9" name="Freeform 11"/>
          <p:cNvSpPr/>
          <p:nvPr/>
        </p:nvSpPr>
        <p:spPr bwMode="auto">
          <a:xfrm flipV="1">
            <a:off x="-4189" y="491172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531812" y="4983087"/>
            <a:ext cx="779767" cy="365125"/>
          </a:xfrm>
        </p:spPr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923387098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11.6.2026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1259226649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94812" y="627405"/>
            <a:ext cx="2207601" cy="5283817"/>
          </a:xfrm>
        </p:spPr>
        <p:txBody>
          <a:bodyPr vert="eaVert" anchor="ctr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2589212" y="627405"/>
            <a:ext cx="6477000" cy="5283817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7B09BD0-848F-4EBB-A109-7353F2339BC4}" type="datetimeFigureOut">
              <a:rPr lang="bg-BG" smtClean="0"/>
              <a:t>11.6.2026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bg-BG"/>
          </a:p>
        </p:txBody>
      </p:sp>
      <p:sp>
        <p:nvSpPr>
          <p:cNvPr id="8" name="Freeform 11"/>
          <p:cNvSpPr/>
          <p:nvPr/>
        </p:nvSpPr>
        <p:spPr bwMode="auto">
          <a:xfrm flipV="1">
            <a:off x="-4189" y="714375"/>
            <a:ext cx="1588527" cy="507297"/>
          </a:xfrm>
          <a:custGeom>
            <a:avLst/>
            <a:gdLst/>
            <a:ahLst/>
            <a:cxnLst/>
            <a:rect l="l" t="t" r="r" b="b"/>
            <a:pathLst>
              <a:path w="9248" h="10000">
                <a:moveTo>
                  <a:pt x="9248" y="4701"/>
                </a:moveTo>
                <a:lnTo>
                  <a:pt x="7915" y="188"/>
                </a:lnTo>
                <a:cubicBezTo>
                  <a:pt x="7906" y="156"/>
                  <a:pt x="7895" y="126"/>
                  <a:pt x="7886" y="94"/>
                </a:cubicBezTo>
                <a:cubicBezTo>
                  <a:pt x="7859" y="0"/>
                  <a:pt x="7831" y="0"/>
                  <a:pt x="7803" y="0"/>
                </a:cubicBezTo>
                <a:lnTo>
                  <a:pt x="7275" y="0"/>
                </a:lnTo>
                <a:lnTo>
                  <a:pt x="0" y="70"/>
                </a:lnTo>
                <a:cubicBezTo>
                  <a:pt x="8" y="3380"/>
                  <a:pt x="17" y="6690"/>
                  <a:pt x="25" y="10000"/>
                </a:cubicBezTo>
                <a:lnTo>
                  <a:pt x="7275" y="9966"/>
                </a:lnTo>
                <a:lnTo>
                  <a:pt x="7803" y="9966"/>
                </a:lnTo>
                <a:cubicBezTo>
                  <a:pt x="7831" y="9966"/>
                  <a:pt x="7859" y="9872"/>
                  <a:pt x="7886" y="9872"/>
                </a:cubicBezTo>
                <a:cubicBezTo>
                  <a:pt x="7886" y="9778"/>
                  <a:pt x="7915" y="9778"/>
                  <a:pt x="7915" y="9778"/>
                </a:cubicBezTo>
                <a:lnTo>
                  <a:pt x="9248" y="5265"/>
                </a:lnTo>
                <a:cubicBezTo>
                  <a:pt x="9303" y="5077"/>
                  <a:pt x="9303" y="4889"/>
                  <a:pt x="9248" y="470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99531396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" name="Group 22"/>
          <p:cNvGrpSpPr/>
          <p:nvPr/>
        </p:nvGrpSpPr>
        <p:grpSpPr>
          <a:xfrm>
            <a:off x="1" y="228600"/>
            <a:ext cx="2851516" cy="6638628"/>
            <a:chOff x="2487613" y="285750"/>
            <a:chExt cx="2428875" cy="5654676"/>
          </a:xfrm>
        </p:grpSpPr>
        <p:sp>
          <p:nvSpPr>
            <p:cNvPr id="24" name="Freeform 11"/>
            <p:cNvSpPr/>
            <p:nvPr/>
          </p:nvSpPr>
          <p:spPr bwMode="auto">
            <a:xfrm>
              <a:off x="2487613" y="2284413"/>
              <a:ext cx="85725" cy="533400"/>
            </a:xfrm>
            <a:custGeom>
              <a:avLst/>
              <a:gdLst/>
              <a:ahLst/>
              <a:cxnLst/>
              <a:rect l="0" t="0" r="r" b="b"/>
              <a:pathLst>
                <a:path w="22" h="136">
                  <a:moveTo>
                    <a:pt x="22" y="136"/>
                  </a:moveTo>
                  <a:cubicBezTo>
                    <a:pt x="20" y="117"/>
                    <a:pt x="19" y="99"/>
                    <a:pt x="17" y="80"/>
                  </a:cubicBezTo>
                  <a:cubicBezTo>
                    <a:pt x="11" y="54"/>
                    <a:pt x="6" y="27"/>
                    <a:pt x="0" y="0"/>
                  </a:cubicBezTo>
                  <a:cubicBezTo>
                    <a:pt x="0" y="35"/>
                    <a:pt x="0" y="35"/>
                    <a:pt x="0" y="35"/>
                  </a:cubicBezTo>
                  <a:cubicBezTo>
                    <a:pt x="6" y="64"/>
                    <a:pt x="13" y="94"/>
                    <a:pt x="20" y="124"/>
                  </a:cubicBezTo>
                  <a:cubicBezTo>
                    <a:pt x="20" y="128"/>
                    <a:pt x="21" y="132"/>
                    <a:pt x="22" y="136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5" name="Freeform 12"/>
            <p:cNvSpPr/>
            <p:nvPr/>
          </p:nvSpPr>
          <p:spPr bwMode="auto">
            <a:xfrm>
              <a:off x="2597151" y="2779713"/>
              <a:ext cx="550863" cy="1978025"/>
            </a:xfrm>
            <a:custGeom>
              <a:avLst/>
              <a:gdLst/>
              <a:ahLst/>
              <a:cxnLst/>
              <a:rect l="0" t="0" r="r" b="b"/>
              <a:pathLst>
                <a:path w="140" h="504">
                  <a:moveTo>
                    <a:pt x="86" y="350"/>
                  </a:moveTo>
                  <a:cubicBezTo>
                    <a:pt x="103" y="402"/>
                    <a:pt x="120" y="453"/>
                    <a:pt x="139" y="504"/>
                  </a:cubicBezTo>
                  <a:cubicBezTo>
                    <a:pt x="139" y="495"/>
                    <a:pt x="139" y="487"/>
                    <a:pt x="140" y="478"/>
                  </a:cubicBezTo>
                  <a:cubicBezTo>
                    <a:pt x="124" y="435"/>
                    <a:pt x="109" y="391"/>
                    <a:pt x="95" y="347"/>
                  </a:cubicBezTo>
                  <a:cubicBezTo>
                    <a:pt x="58" y="233"/>
                    <a:pt x="27" y="117"/>
                    <a:pt x="0" y="0"/>
                  </a:cubicBezTo>
                  <a:cubicBezTo>
                    <a:pt x="2" y="20"/>
                    <a:pt x="4" y="41"/>
                    <a:pt x="6" y="61"/>
                  </a:cubicBezTo>
                  <a:cubicBezTo>
                    <a:pt x="30" y="158"/>
                    <a:pt x="56" y="255"/>
                    <a:pt x="86" y="35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6" name="Freeform 13"/>
            <p:cNvSpPr/>
            <p:nvPr/>
          </p:nvSpPr>
          <p:spPr bwMode="auto">
            <a:xfrm>
              <a:off x="3175001" y="4730750"/>
              <a:ext cx="519113" cy="1209675"/>
            </a:xfrm>
            <a:custGeom>
              <a:avLst/>
              <a:gdLst/>
              <a:ahLst/>
              <a:cxnLst/>
              <a:rect l="0" t="0" r="r" b="b"/>
              <a:pathLst>
                <a:path w="132" h="308">
                  <a:moveTo>
                    <a:pt x="8" y="22"/>
                  </a:moveTo>
                  <a:cubicBezTo>
                    <a:pt x="5" y="15"/>
                    <a:pt x="2" y="8"/>
                    <a:pt x="0" y="0"/>
                  </a:cubicBezTo>
                  <a:cubicBezTo>
                    <a:pt x="0" y="10"/>
                    <a:pt x="0" y="19"/>
                    <a:pt x="0" y="29"/>
                  </a:cubicBezTo>
                  <a:cubicBezTo>
                    <a:pt x="21" y="85"/>
                    <a:pt x="44" y="140"/>
                    <a:pt x="68" y="194"/>
                  </a:cubicBezTo>
                  <a:cubicBezTo>
                    <a:pt x="85" y="232"/>
                    <a:pt x="104" y="270"/>
                    <a:pt x="123" y="308"/>
                  </a:cubicBezTo>
                  <a:cubicBezTo>
                    <a:pt x="132" y="308"/>
                    <a:pt x="132" y="308"/>
                    <a:pt x="132" y="308"/>
                  </a:cubicBezTo>
                  <a:cubicBezTo>
                    <a:pt x="113" y="269"/>
                    <a:pt x="94" y="230"/>
                    <a:pt x="77" y="190"/>
                  </a:cubicBezTo>
                  <a:cubicBezTo>
                    <a:pt x="52" y="135"/>
                    <a:pt x="29" y="79"/>
                    <a:pt x="8" y="22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7" name="Freeform 14"/>
            <p:cNvSpPr/>
            <p:nvPr/>
          </p:nvSpPr>
          <p:spPr bwMode="auto">
            <a:xfrm>
              <a:off x="3305176" y="5630863"/>
              <a:ext cx="146050" cy="309563"/>
            </a:xfrm>
            <a:custGeom>
              <a:avLst/>
              <a:gdLst/>
              <a:ahLst/>
              <a:cxnLst/>
              <a:rect l="0" t="0" r="r" b="b"/>
              <a:pathLst>
                <a:path w="37" h="79">
                  <a:moveTo>
                    <a:pt x="28" y="79"/>
                  </a:moveTo>
                  <a:cubicBezTo>
                    <a:pt x="37" y="79"/>
                    <a:pt x="37" y="79"/>
                    <a:pt x="37" y="79"/>
                  </a:cubicBezTo>
                  <a:cubicBezTo>
                    <a:pt x="24" y="53"/>
                    <a:pt x="12" y="27"/>
                    <a:pt x="0" y="0"/>
                  </a:cubicBezTo>
                  <a:cubicBezTo>
                    <a:pt x="8" y="27"/>
                    <a:pt x="17" y="53"/>
                    <a:pt x="28" y="79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8" name="Freeform 15"/>
            <p:cNvSpPr/>
            <p:nvPr/>
          </p:nvSpPr>
          <p:spPr bwMode="auto">
            <a:xfrm>
              <a:off x="2573338" y="2817813"/>
              <a:ext cx="700088" cy="2835275"/>
            </a:xfrm>
            <a:custGeom>
              <a:avLst/>
              <a:gdLst/>
              <a:ahLst/>
              <a:cxnLst/>
              <a:rect l="0" t="0" r="r" b="b"/>
              <a:pathLst>
                <a:path w="178" h="722">
                  <a:moveTo>
                    <a:pt x="162" y="660"/>
                  </a:moveTo>
                  <a:cubicBezTo>
                    <a:pt x="145" y="618"/>
                    <a:pt x="130" y="576"/>
                    <a:pt x="116" y="534"/>
                  </a:cubicBezTo>
                  <a:cubicBezTo>
                    <a:pt x="84" y="437"/>
                    <a:pt x="59" y="337"/>
                    <a:pt x="40" y="236"/>
                  </a:cubicBezTo>
                  <a:cubicBezTo>
                    <a:pt x="29" y="175"/>
                    <a:pt x="20" y="113"/>
                    <a:pt x="12" y="51"/>
                  </a:cubicBezTo>
                  <a:cubicBezTo>
                    <a:pt x="8" y="34"/>
                    <a:pt x="4" y="17"/>
                    <a:pt x="0" y="0"/>
                  </a:cubicBezTo>
                  <a:cubicBezTo>
                    <a:pt x="8" y="79"/>
                    <a:pt x="19" y="159"/>
                    <a:pt x="33" y="237"/>
                  </a:cubicBezTo>
                  <a:cubicBezTo>
                    <a:pt x="51" y="339"/>
                    <a:pt x="76" y="439"/>
                    <a:pt x="107" y="537"/>
                  </a:cubicBezTo>
                  <a:cubicBezTo>
                    <a:pt x="123" y="586"/>
                    <a:pt x="141" y="634"/>
                    <a:pt x="160" y="681"/>
                  </a:cubicBezTo>
                  <a:cubicBezTo>
                    <a:pt x="166" y="695"/>
                    <a:pt x="172" y="708"/>
                    <a:pt x="178" y="722"/>
                  </a:cubicBezTo>
                  <a:cubicBezTo>
                    <a:pt x="176" y="717"/>
                    <a:pt x="175" y="713"/>
                    <a:pt x="174" y="708"/>
                  </a:cubicBezTo>
                  <a:cubicBezTo>
                    <a:pt x="169" y="692"/>
                    <a:pt x="165" y="676"/>
                    <a:pt x="162" y="66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9" name="Freeform 16"/>
            <p:cNvSpPr/>
            <p:nvPr/>
          </p:nvSpPr>
          <p:spPr bwMode="auto">
            <a:xfrm>
              <a:off x="2506663" y="285750"/>
              <a:ext cx="90488" cy="2493963"/>
            </a:xfrm>
            <a:custGeom>
              <a:avLst/>
              <a:gdLst/>
              <a:ahLst/>
              <a:cxnLst/>
              <a:rect l="0" t="0" r="r" b="b"/>
              <a:pathLst>
                <a:path w="23" h="635">
                  <a:moveTo>
                    <a:pt x="11" y="577"/>
                  </a:moveTo>
                  <a:cubicBezTo>
                    <a:pt x="12" y="581"/>
                    <a:pt x="12" y="585"/>
                    <a:pt x="12" y="589"/>
                  </a:cubicBezTo>
                  <a:cubicBezTo>
                    <a:pt x="15" y="603"/>
                    <a:pt x="19" y="617"/>
                    <a:pt x="22" y="632"/>
                  </a:cubicBezTo>
                  <a:cubicBezTo>
                    <a:pt x="22" y="633"/>
                    <a:pt x="22" y="634"/>
                    <a:pt x="23" y="635"/>
                  </a:cubicBezTo>
                  <a:cubicBezTo>
                    <a:pt x="21" y="615"/>
                    <a:pt x="19" y="596"/>
                    <a:pt x="17" y="576"/>
                  </a:cubicBezTo>
                  <a:cubicBezTo>
                    <a:pt x="9" y="474"/>
                    <a:pt x="5" y="372"/>
                    <a:pt x="5" y="269"/>
                  </a:cubicBezTo>
                  <a:cubicBezTo>
                    <a:pt x="6" y="179"/>
                    <a:pt x="9" y="90"/>
                    <a:pt x="15" y="0"/>
                  </a:cubicBezTo>
                  <a:cubicBezTo>
                    <a:pt x="12" y="0"/>
                    <a:pt x="12" y="0"/>
                    <a:pt x="12" y="0"/>
                  </a:cubicBezTo>
                  <a:cubicBezTo>
                    <a:pt x="5" y="89"/>
                    <a:pt x="2" y="179"/>
                    <a:pt x="1" y="269"/>
                  </a:cubicBezTo>
                  <a:cubicBezTo>
                    <a:pt x="0" y="372"/>
                    <a:pt x="3" y="474"/>
                    <a:pt x="11" y="577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0" name="Freeform 17"/>
            <p:cNvSpPr/>
            <p:nvPr/>
          </p:nvSpPr>
          <p:spPr bwMode="auto">
            <a:xfrm>
              <a:off x="2554288" y="2598738"/>
              <a:ext cx="66675" cy="420688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0" y="0"/>
                  </a:moveTo>
                  <a:cubicBezTo>
                    <a:pt x="2" y="19"/>
                    <a:pt x="3" y="37"/>
                    <a:pt x="5" y="56"/>
                  </a:cubicBezTo>
                  <a:cubicBezTo>
                    <a:pt x="9" y="73"/>
                    <a:pt x="13" y="90"/>
                    <a:pt x="17" y="107"/>
                  </a:cubicBezTo>
                  <a:cubicBezTo>
                    <a:pt x="15" y="87"/>
                    <a:pt x="13" y="66"/>
                    <a:pt x="11" y="46"/>
                  </a:cubicBezTo>
                  <a:cubicBezTo>
                    <a:pt x="10" y="45"/>
                    <a:pt x="10" y="44"/>
                    <a:pt x="10" y="43"/>
                  </a:cubicBezTo>
                  <a:cubicBezTo>
                    <a:pt x="7" y="28"/>
                    <a:pt x="3" y="1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1" name="Freeform 18"/>
            <p:cNvSpPr/>
            <p:nvPr/>
          </p:nvSpPr>
          <p:spPr bwMode="auto">
            <a:xfrm>
              <a:off x="3143251" y="4757738"/>
              <a:ext cx="161925" cy="873125"/>
            </a:xfrm>
            <a:custGeom>
              <a:avLst/>
              <a:gdLst/>
              <a:ahLst/>
              <a:cxnLst/>
              <a:rect l="0" t="0" r="r" b="b"/>
              <a:pathLst>
                <a:path w="41" h="222">
                  <a:moveTo>
                    <a:pt x="0" y="0"/>
                  </a:moveTo>
                  <a:cubicBezTo>
                    <a:pt x="0" y="31"/>
                    <a:pt x="2" y="62"/>
                    <a:pt x="5" y="93"/>
                  </a:cubicBezTo>
                  <a:cubicBezTo>
                    <a:pt x="8" y="117"/>
                    <a:pt x="12" y="142"/>
                    <a:pt x="17" y="166"/>
                  </a:cubicBezTo>
                  <a:cubicBezTo>
                    <a:pt x="19" y="172"/>
                    <a:pt x="22" y="178"/>
                    <a:pt x="24" y="184"/>
                  </a:cubicBezTo>
                  <a:cubicBezTo>
                    <a:pt x="30" y="197"/>
                    <a:pt x="35" y="209"/>
                    <a:pt x="41" y="222"/>
                  </a:cubicBezTo>
                  <a:cubicBezTo>
                    <a:pt x="40" y="219"/>
                    <a:pt x="39" y="215"/>
                    <a:pt x="38" y="212"/>
                  </a:cubicBezTo>
                  <a:cubicBezTo>
                    <a:pt x="26" y="172"/>
                    <a:pt x="18" y="132"/>
                    <a:pt x="13" y="92"/>
                  </a:cubicBezTo>
                  <a:cubicBezTo>
                    <a:pt x="11" y="68"/>
                    <a:pt x="9" y="45"/>
                    <a:pt x="8" y="22"/>
                  </a:cubicBezTo>
                  <a:cubicBezTo>
                    <a:pt x="8" y="21"/>
                    <a:pt x="7" y="20"/>
                    <a:pt x="7" y="18"/>
                  </a:cubicBezTo>
                  <a:cubicBezTo>
                    <a:pt x="5" y="12"/>
                    <a:pt x="2" y="6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2" name="Freeform 19"/>
            <p:cNvSpPr/>
            <p:nvPr/>
          </p:nvSpPr>
          <p:spPr bwMode="auto">
            <a:xfrm>
              <a:off x="3148013" y="1282700"/>
              <a:ext cx="1768475" cy="3448050"/>
            </a:xfrm>
            <a:custGeom>
              <a:avLst/>
              <a:gdLst/>
              <a:ahLst/>
              <a:cxnLst/>
              <a:rect l="0" t="0" r="r" b="b"/>
              <a:pathLst>
                <a:path w="450" h="878">
                  <a:moveTo>
                    <a:pt x="7" y="854"/>
                  </a:moveTo>
                  <a:cubicBezTo>
                    <a:pt x="10" y="772"/>
                    <a:pt x="26" y="691"/>
                    <a:pt x="50" y="613"/>
                  </a:cubicBezTo>
                  <a:cubicBezTo>
                    <a:pt x="75" y="535"/>
                    <a:pt x="109" y="460"/>
                    <a:pt x="149" y="388"/>
                  </a:cubicBezTo>
                  <a:cubicBezTo>
                    <a:pt x="189" y="316"/>
                    <a:pt x="235" y="248"/>
                    <a:pt x="285" y="183"/>
                  </a:cubicBezTo>
                  <a:cubicBezTo>
                    <a:pt x="310" y="151"/>
                    <a:pt x="337" y="119"/>
                    <a:pt x="364" y="89"/>
                  </a:cubicBezTo>
                  <a:cubicBezTo>
                    <a:pt x="378" y="74"/>
                    <a:pt x="392" y="58"/>
                    <a:pt x="406" y="44"/>
                  </a:cubicBezTo>
                  <a:cubicBezTo>
                    <a:pt x="421" y="29"/>
                    <a:pt x="435" y="15"/>
                    <a:pt x="450" y="1"/>
                  </a:cubicBezTo>
                  <a:cubicBezTo>
                    <a:pt x="450" y="0"/>
                    <a:pt x="450" y="0"/>
                    <a:pt x="450" y="0"/>
                  </a:cubicBezTo>
                  <a:cubicBezTo>
                    <a:pt x="434" y="14"/>
                    <a:pt x="420" y="28"/>
                    <a:pt x="405" y="43"/>
                  </a:cubicBezTo>
                  <a:cubicBezTo>
                    <a:pt x="391" y="57"/>
                    <a:pt x="377" y="72"/>
                    <a:pt x="363" y="88"/>
                  </a:cubicBezTo>
                  <a:cubicBezTo>
                    <a:pt x="335" y="118"/>
                    <a:pt x="308" y="149"/>
                    <a:pt x="283" y="181"/>
                  </a:cubicBezTo>
                  <a:cubicBezTo>
                    <a:pt x="232" y="246"/>
                    <a:pt x="185" y="314"/>
                    <a:pt x="145" y="386"/>
                  </a:cubicBezTo>
                  <a:cubicBezTo>
                    <a:pt x="104" y="457"/>
                    <a:pt x="70" y="533"/>
                    <a:pt x="45" y="611"/>
                  </a:cubicBezTo>
                  <a:cubicBezTo>
                    <a:pt x="19" y="690"/>
                    <a:pt x="3" y="771"/>
                    <a:pt x="0" y="854"/>
                  </a:cubicBezTo>
                  <a:cubicBezTo>
                    <a:pt x="0" y="856"/>
                    <a:pt x="0" y="857"/>
                    <a:pt x="0" y="859"/>
                  </a:cubicBezTo>
                  <a:cubicBezTo>
                    <a:pt x="2" y="865"/>
                    <a:pt x="4" y="872"/>
                    <a:pt x="7" y="878"/>
                  </a:cubicBezTo>
                  <a:cubicBezTo>
                    <a:pt x="7" y="870"/>
                    <a:pt x="7" y="862"/>
                    <a:pt x="7" y="85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3" name="Freeform 20"/>
            <p:cNvSpPr/>
            <p:nvPr/>
          </p:nvSpPr>
          <p:spPr bwMode="auto">
            <a:xfrm>
              <a:off x="3273426" y="5653088"/>
              <a:ext cx="138113" cy="287338"/>
            </a:xfrm>
            <a:custGeom>
              <a:avLst/>
              <a:gdLst/>
              <a:ahLst/>
              <a:cxnLst/>
              <a:rect l="0" t="0" r="r" b="b"/>
              <a:pathLst>
                <a:path w="35" h="73">
                  <a:moveTo>
                    <a:pt x="0" y="0"/>
                  </a:moveTo>
                  <a:cubicBezTo>
                    <a:pt x="7" y="24"/>
                    <a:pt x="16" y="49"/>
                    <a:pt x="26" y="73"/>
                  </a:cubicBezTo>
                  <a:cubicBezTo>
                    <a:pt x="35" y="73"/>
                    <a:pt x="35" y="73"/>
                    <a:pt x="35" y="73"/>
                  </a:cubicBezTo>
                  <a:cubicBezTo>
                    <a:pt x="23" y="49"/>
                    <a:pt x="11" y="24"/>
                    <a:pt x="0" y="0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4" name="Freeform 21"/>
            <p:cNvSpPr/>
            <p:nvPr/>
          </p:nvSpPr>
          <p:spPr bwMode="auto">
            <a:xfrm>
              <a:off x="3143251" y="4656138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7" y="44"/>
                  </a:moveTo>
                  <a:cubicBezTo>
                    <a:pt x="7" y="46"/>
                    <a:pt x="8" y="47"/>
                    <a:pt x="8" y="48"/>
                  </a:cubicBezTo>
                  <a:cubicBezTo>
                    <a:pt x="8" y="38"/>
                    <a:pt x="8" y="29"/>
                    <a:pt x="8" y="19"/>
                  </a:cubicBezTo>
                  <a:cubicBezTo>
                    <a:pt x="5" y="13"/>
                    <a:pt x="3" y="6"/>
                    <a:pt x="1" y="0"/>
                  </a:cubicBezTo>
                  <a:cubicBezTo>
                    <a:pt x="0" y="9"/>
                    <a:pt x="0" y="17"/>
                    <a:pt x="0" y="26"/>
                  </a:cubicBezTo>
                  <a:cubicBezTo>
                    <a:pt x="2" y="32"/>
                    <a:pt x="5" y="38"/>
                    <a:pt x="7" y="44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35" name="Freeform 22"/>
            <p:cNvSpPr/>
            <p:nvPr/>
          </p:nvSpPr>
          <p:spPr bwMode="auto">
            <a:xfrm>
              <a:off x="3211513" y="5410200"/>
              <a:ext cx="203200" cy="530225"/>
            </a:xfrm>
            <a:custGeom>
              <a:avLst/>
              <a:gdLst/>
              <a:ahLst/>
              <a:cxnLst/>
              <a:rect l="0" t="0" r="r" b="b"/>
              <a:pathLst>
                <a:path w="52" h="135">
                  <a:moveTo>
                    <a:pt x="7" y="18"/>
                  </a:moveTo>
                  <a:cubicBezTo>
                    <a:pt x="5" y="12"/>
                    <a:pt x="2" y="6"/>
                    <a:pt x="0" y="0"/>
                  </a:cubicBezTo>
                  <a:cubicBezTo>
                    <a:pt x="3" y="16"/>
                    <a:pt x="7" y="32"/>
                    <a:pt x="12" y="48"/>
                  </a:cubicBezTo>
                  <a:cubicBezTo>
                    <a:pt x="13" y="53"/>
                    <a:pt x="14" y="57"/>
                    <a:pt x="16" y="62"/>
                  </a:cubicBezTo>
                  <a:cubicBezTo>
                    <a:pt x="27" y="86"/>
                    <a:pt x="39" y="111"/>
                    <a:pt x="51" y="135"/>
                  </a:cubicBezTo>
                  <a:cubicBezTo>
                    <a:pt x="52" y="135"/>
                    <a:pt x="52" y="135"/>
                    <a:pt x="52" y="135"/>
                  </a:cubicBezTo>
                  <a:cubicBezTo>
                    <a:pt x="41" y="109"/>
                    <a:pt x="32" y="83"/>
                    <a:pt x="24" y="56"/>
                  </a:cubicBezTo>
                  <a:cubicBezTo>
                    <a:pt x="18" y="43"/>
                    <a:pt x="13" y="31"/>
                    <a:pt x="7" y="18"/>
                  </a:cubicBezTo>
                  <a:close/>
                </a:path>
              </a:pathLst>
            </a:custGeom>
            <a:solidFill>
              <a:schemeClr val="tx2">
                <a:alpha val="20000"/>
              </a:schemeClr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" name="Group 9"/>
          <p:cNvGrpSpPr/>
          <p:nvPr/>
        </p:nvGrpSpPr>
        <p:grpSpPr>
          <a:xfrm>
            <a:off x="27221" y="-786"/>
            <a:ext cx="2356674" cy="6854039"/>
            <a:chOff x="6627813" y="194833"/>
            <a:chExt cx="1952625" cy="5678918"/>
          </a:xfrm>
        </p:grpSpPr>
        <p:sp>
          <p:nvSpPr>
            <p:cNvPr id="11" name="Freeform 27"/>
            <p:cNvSpPr/>
            <p:nvPr/>
          </p:nvSpPr>
          <p:spPr bwMode="auto">
            <a:xfrm>
              <a:off x="6627813" y="194833"/>
              <a:ext cx="409575" cy="3646488"/>
            </a:xfrm>
            <a:custGeom>
              <a:avLst/>
              <a:gdLst/>
              <a:ahLst/>
              <a:cxnLst/>
              <a:rect l="0" t="0" r="r" b="b"/>
              <a:pathLst>
                <a:path w="103" h="920">
                  <a:moveTo>
                    <a:pt x="7" y="210"/>
                  </a:moveTo>
                  <a:cubicBezTo>
                    <a:pt x="11" y="288"/>
                    <a:pt x="17" y="367"/>
                    <a:pt x="26" y="445"/>
                  </a:cubicBezTo>
                  <a:cubicBezTo>
                    <a:pt x="34" y="523"/>
                    <a:pt x="44" y="601"/>
                    <a:pt x="57" y="679"/>
                  </a:cubicBezTo>
                  <a:cubicBezTo>
                    <a:pt x="69" y="757"/>
                    <a:pt x="84" y="834"/>
                    <a:pt x="101" y="911"/>
                  </a:cubicBezTo>
                  <a:cubicBezTo>
                    <a:pt x="102" y="914"/>
                    <a:pt x="103" y="917"/>
                    <a:pt x="103" y="920"/>
                  </a:cubicBezTo>
                  <a:cubicBezTo>
                    <a:pt x="102" y="905"/>
                    <a:pt x="100" y="889"/>
                    <a:pt x="99" y="874"/>
                  </a:cubicBezTo>
                  <a:cubicBezTo>
                    <a:pt x="99" y="871"/>
                    <a:pt x="99" y="868"/>
                    <a:pt x="99" y="866"/>
                  </a:cubicBezTo>
                  <a:cubicBezTo>
                    <a:pt x="85" y="803"/>
                    <a:pt x="73" y="741"/>
                    <a:pt x="63" y="678"/>
                  </a:cubicBezTo>
                  <a:cubicBezTo>
                    <a:pt x="50" y="600"/>
                    <a:pt x="39" y="523"/>
                    <a:pt x="30" y="444"/>
                  </a:cubicBezTo>
                  <a:cubicBezTo>
                    <a:pt x="21" y="366"/>
                    <a:pt x="14" y="288"/>
                    <a:pt x="9" y="209"/>
                  </a:cubicBezTo>
                  <a:cubicBezTo>
                    <a:pt x="7" y="170"/>
                    <a:pt x="5" y="131"/>
                    <a:pt x="3" y="92"/>
                  </a:cubicBezTo>
                  <a:cubicBezTo>
                    <a:pt x="2" y="61"/>
                    <a:pt x="1" y="31"/>
                    <a:pt x="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31"/>
                    <a:pt x="1" y="61"/>
                    <a:pt x="1" y="92"/>
                  </a:cubicBezTo>
                  <a:cubicBezTo>
                    <a:pt x="3" y="131"/>
                    <a:pt x="4" y="170"/>
                    <a:pt x="7" y="21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2" name="Freeform 28"/>
            <p:cNvSpPr/>
            <p:nvPr/>
          </p:nvSpPr>
          <p:spPr bwMode="auto">
            <a:xfrm>
              <a:off x="7061201" y="3771900"/>
              <a:ext cx="350838" cy="1309688"/>
            </a:xfrm>
            <a:custGeom>
              <a:avLst/>
              <a:gdLst/>
              <a:ahLst/>
              <a:cxnLst/>
              <a:rect l="0" t="0" r="r" b="b"/>
              <a:pathLst>
                <a:path w="88" h="330">
                  <a:moveTo>
                    <a:pt x="53" y="229"/>
                  </a:moveTo>
                  <a:cubicBezTo>
                    <a:pt x="64" y="263"/>
                    <a:pt x="75" y="297"/>
                    <a:pt x="88" y="330"/>
                  </a:cubicBezTo>
                  <a:cubicBezTo>
                    <a:pt x="88" y="323"/>
                    <a:pt x="88" y="315"/>
                    <a:pt x="88" y="308"/>
                  </a:cubicBezTo>
                  <a:cubicBezTo>
                    <a:pt x="88" y="307"/>
                    <a:pt x="88" y="305"/>
                    <a:pt x="88" y="304"/>
                  </a:cubicBezTo>
                  <a:cubicBezTo>
                    <a:pt x="79" y="278"/>
                    <a:pt x="70" y="252"/>
                    <a:pt x="62" y="226"/>
                  </a:cubicBezTo>
                  <a:cubicBezTo>
                    <a:pt x="38" y="152"/>
                    <a:pt x="17" y="76"/>
                    <a:pt x="0" y="0"/>
                  </a:cubicBezTo>
                  <a:cubicBezTo>
                    <a:pt x="2" y="21"/>
                    <a:pt x="4" y="42"/>
                    <a:pt x="7" y="63"/>
                  </a:cubicBezTo>
                  <a:cubicBezTo>
                    <a:pt x="21" y="119"/>
                    <a:pt x="36" y="174"/>
                    <a:pt x="53" y="22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3" name="Freeform 29"/>
            <p:cNvSpPr/>
            <p:nvPr/>
          </p:nvSpPr>
          <p:spPr bwMode="auto">
            <a:xfrm>
              <a:off x="7439026" y="5053013"/>
              <a:ext cx="357188" cy="820738"/>
            </a:xfrm>
            <a:custGeom>
              <a:avLst/>
              <a:gdLst/>
              <a:ahLst/>
              <a:cxnLst/>
              <a:rect l="0" t="0" r="r" b="b"/>
              <a:pathLst>
                <a:path w="90" h="207">
                  <a:moveTo>
                    <a:pt x="6" y="15"/>
                  </a:moveTo>
                  <a:cubicBezTo>
                    <a:pt x="4" y="10"/>
                    <a:pt x="2" y="5"/>
                    <a:pt x="0" y="0"/>
                  </a:cubicBezTo>
                  <a:cubicBezTo>
                    <a:pt x="0" y="9"/>
                    <a:pt x="0" y="19"/>
                    <a:pt x="1" y="29"/>
                  </a:cubicBezTo>
                  <a:cubicBezTo>
                    <a:pt x="14" y="62"/>
                    <a:pt x="27" y="95"/>
                    <a:pt x="42" y="127"/>
                  </a:cubicBezTo>
                  <a:cubicBezTo>
                    <a:pt x="54" y="154"/>
                    <a:pt x="67" y="181"/>
                    <a:pt x="80" y="207"/>
                  </a:cubicBezTo>
                  <a:cubicBezTo>
                    <a:pt x="90" y="207"/>
                    <a:pt x="90" y="207"/>
                    <a:pt x="90" y="207"/>
                  </a:cubicBezTo>
                  <a:cubicBezTo>
                    <a:pt x="76" y="180"/>
                    <a:pt x="63" y="152"/>
                    <a:pt x="50" y="123"/>
                  </a:cubicBezTo>
                  <a:cubicBezTo>
                    <a:pt x="34" y="88"/>
                    <a:pt x="20" y="51"/>
                    <a:pt x="6" y="15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Freeform 30"/>
            <p:cNvSpPr/>
            <p:nvPr/>
          </p:nvSpPr>
          <p:spPr bwMode="auto">
            <a:xfrm>
              <a:off x="7037388" y="3811588"/>
              <a:ext cx="457200" cy="1852613"/>
            </a:xfrm>
            <a:custGeom>
              <a:avLst/>
              <a:gdLst/>
              <a:ahLst/>
              <a:cxnLst/>
              <a:rect l="0" t="0" r="r" b="b"/>
              <a:pathLst>
                <a:path w="115" h="467">
                  <a:moveTo>
                    <a:pt x="101" y="409"/>
                  </a:moveTo>
                  <a:cubicBezTo>
                    <a:pt x="93" y="388"/>
                    <a:pt x="85" y="366"/>
                    <a:pt x="78" y="344"/>
                  </a:cubicBezTo>
                  <a:cubicBezTo>
                    <a:pt x="57" y="281"/>
                    <a:pt x="41" y="216"/>
                    <a:pt x="29" y="151"/>
                  </a:cubicBezTo>
                  <a:cubicBezTo>
                    <a:pt x="22" y="119"/>
                    <a:pt x="17" y="86"/>
                    <a:pt x="13" y="53"/>
                  </a:cubicBezTo>
                  <a:cubicBezTo>
                    <a:pt x="9" y="35"/>
                    <a:pt x="4" y="18"/>
                    <a:pt x="0" y="0"/>
                  </a:cubicBezTo>
                  <a:cubicBezTo>
                    <a:pt x="5" y="51"/>
                    <a:pt x="12" y="102"/>
                    <a:pt x="21" y="152"/>
                  </a:cubicBezTo>
                  <a:cubicBezTo>
                    <a:pt x="33" y="218"/>
                    <a:pt x="49" y="283"/>
                    <a:pt x="69" y="347"/>
                  </a:cubicBezTo>
                  <a:cubicBezTo>
                    <a:pt x="79" y="378"/>
                    <a:pt x="90" y="410"/>
                    <a:pt x="103" y="441"/>
                  </a:cubicBezTo>
                  <a:cubicBezTo>
                    <a:pt x="107" y="449"/>
                    <a:pt x="111" y="458"/>
                    <a:pt x="115" y="467"/>
                  </a:cubicBezTo>
                  <a:cubicBezTo>
                    <a:pt x="114" y="464"/>
                    <a:pt x="113" y="461"/>
                    <a:pt x="112" y="458"/>
                  </a:cubicBezTo>
                  <a:cubicBezTo>
                    <a:pt x="108" y="442"/>
                    <a:pt x="104" y="425"/>
                    <a:pt x="101" y="40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5" name="Freeform 31"/>
            <p:cNvSpPr/>
            <p:nvPr/>
          </p:nvSpPr>
          <p:spPr bwMode="auto">
            <a:xfrm>
              <a:off x="6992938" y="1263650"/>
              <a:ext cx="144463" cy="2508250"/>
            </a:xfrm>
            <a:custGeom>
              <a:avLst/>
              <a:gdLst/>
              <a:ahLst/>
              <a:cxnLst/>
              <a:rect l="0" t="0" r="r" b="b"/>
              <a:pathLst>
                <a:path w="36" h="633">
                  <a:moveTo>
                    <a:pt x="17" y="633"/>
                  </a:moveTo>
                  <a:cubicBezTo>
                    <a:pt x="15" y="621"/>
                    <a:pt x="14" y="609"/>
                    <a:pt x="13" y="597"/>
                  </a:cubicBezTo>
                  <a:cubicBezTo>
                    <a:pt x="8" y="530"/>
                    <a:pt x="5" y="464"/>
                    <a:pt x="5" y="398"/>
                  </a:cubicBezTo>
                  <a:cubicBezTo>
                    <a:pt x="5" y="331"/>
                    <a:pt x="8" y="265"/>
                    <a:pt x="13" y="198"/>
                  </a:cubicBezTo>
                  <a:cubicBezTo>
                    <a:pt x="15" y="165"/>
                    <a:pt x="18" y="132"/>
                    <a:pt x="22" y="99"/>
                  </a:cubicBezTo>
                  <a:cubicBezTo>
                    <a:pt x="26" y="66"/>
                    <a:pt x="30" y="33"/>
                    <a:pt x="36" y="0"/>
                  </a:cubicBezTo>
                  <a:cubicBezTo>
                    <a:pt x="35" y="0"/>
                    <a:pt x="35" y="0"/>
                    <a:pt x="35" y="0"/>
                  </a:cubicBezTo>
                  <a:cubicBezTo>
                    <a:pt x="29" y="33"/>
                    <a:pt x="24" y="66"/>
                    <a:pt x="20" y="99"/>
                  </a:cubicBezTo>
                  <a:cubicBezTo>
                    <a:pt x="16" y="132"/>
                    <a:pt x="13" y="165"/>
                    <a:pt x="10" y="198"/>
                  </a:cubicBezTo>
                  <a:cubicBezTo>
                    <a:pt x="4" y="264"/>
                    <a:pt x="1" y="331"/>
                    <a:pt x="1" y="398"/>
                  </a:cubicBezTo>
                  <a:cubicBezTo>
                    <a:pt x="0" y="461"/>
                    <a:pt x="2" y="525"/>
                    <a:pt x="7" y="589"/>
                  </a:cubicBezTo>
                  <a:cubicBezTo>
                    <a:pt x="10" y="603"/>
                    <a:pt x="13" y="618"/>
                    <a:pt x="16" y="632"/>
                  </a:cubicBezTo>
                  <a:cubicBezTo>
                    <a:pt x="16" y="632"/>
                    <a:pt x="17" y="633"/>
                    <a:pt x="17" y="63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6" name="Freeform 32"/>
            <p:cNvSpPr/>
            <p:nvPr/>
          </p:nvSpPr>
          <p:spPr bwMode="auto">
            <a:xfrm>
              <a:off x="7526338" y="5640388"/>
              <a:ext cx="111125" cy="233363"/>
            </a:xfrm>
            <a:custGeom>
              <a:avLst/>
              <a:gdLst/>
              <a:ahLst/>
              <a:cxnLst/>
              <a:rect l="0" t="0" r="r" b="b"/>
              <a:pathLst>
                <a:path w="28" h="59">
                  <a:moveTo>
                    <a:pt x="22" y="59"/>
                  </a:moveTo>
                  <a:cubicBezTo>
                    <a:pt x="28" y="59"/>
                    <a:pt x="28" y="59"/>
                    <a:pt x="28" y="59"/>
                  </a:cubicBezTo>
                  <a:cubicBezTo>
                    <a:pt x="18" y="40"/>
                    <a:pt x="9" y="20"/>
                    <a:pt x="0" y="0"/>
                  </a:cubicBezTo>
                  <a:cubicBezTo>
                    <a:pt x="6" y="20"/>
                    <a:pt x="13" y="40"/>
                    <a:pt x="22" y="59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7" name="Freeform 33"/>
            <p:cNvSpPr/>
            <p:nvPr/>
          </p:nvSpPr>
          <p:spPr bwMode="auto">
            <a:xfrm>
              <a:off x="7021513" y="3598863"/>
              <a:ext cx="68263" cy="423863"/>
            </a:xfrm>
            <a:custGeom>
              <a:avLst/>
              <a:gdLst/>
              <a:ahLst/>
              <a:cxnLst/>
              <a:rect l="0" t="0" r="r" b="b"/>
              <a:pathLst>
                <a:path w="17" h="107">
                  <a:moveTo>
                    <a:pt x="4" y="54"/>
                  </a:moveTo>
                  <a:cubicBezTo>
                    <a:pt x="8" y="72"/>
                    <a:pt x="13" y="89"/>
                    <a:pt x="17" y="107"/>
                  </a:cubicBezTo>
                  <a:cubicBezTo>
                    <a:pt x="14" y="86"/>
                    <a:pt x="12" y="65"/>
                    <a:pt x="10" y="44"/>
                  </a:cubicBezTo>
                  <a:cubicBezTo>
                    <a:pt x="10" y="44"/>
                    <a:pt x="9" y="43"/>
                    <a:pt x="9" y="43"/>
                  </a:cubicBezTo>
                  <a:cubicBezTo>
                    <a:pt x="6" y="29"/>
                    <a:pt x="3" y="14"/>
                    <a:pt x="0" y="0"/>
                  </a:cubicBezTo>
                  <a:cubicBezTo>
                    <a:pt x="0" y="2"/>
                    <a:pt x="0" y="5"/>
                    <a:pt x="0" y="8"/>
                  </a:cubicBezTo>
                  <a:cubicBezTo>
                    <a:pt x="1" y="23"/>
                    <a:pt x="3" y="39"/>
                    <a:pt x="4" y="54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8" name="Freeform 34"/>
            <p:cNvSpPr/>
            <p:nvPr/>
          </p:nvSpPr>
          <p:spPr bwMode="auto">
            <a:xfrm>
              <a:off x="7412038" y="2801938"/>
              <a:ext cx="1168400" cy="2251075"/>
            </a:xfrm>
            <a:custGeom>
              <a:avLst/>
              <a:gdLst/>
              <a:ahLst/>
              <a:cxnLst/>
              <a:rect l="0" t="0" r="r" b="b"/>
              <a:pathLst>
                <a:path w="294" h="568">
                  <a:moveTo>
                    <a:pt x="8" y="553"/>
                  </a:moveTo>
                  <a:cubicBezTo>
                    <a:pt x="9" y="501"/>
                    <a:pt x="19" y="448"/>
                    <a:pt x="35" y="397"/>
                  </a:cubicBezTo>
                  <a:cubicBezTo>
                    <a:pt x="51" y="347"/>
                    <a:pt x="73" y="298"/>
                    <a:pt x="99" y="252"/>
                  </a:cubicBezTo>
                  <a:cubicBezTo>
                    <a:pt x="124" y="205"/>
                    <a:pt x="154" y="161"/>
                    <a:pt x="187" y="119"/>
                  </a:cubicBezTo>
                  <a:cubicBezTo>
                    <a:pt x="203" y="98"/>
                    <a:pt x="220" y="77"/>
                    <a:pt x="238" y="58"/>
                  </a:cubicBezTo>
                  <a:cubicBezTo>
                    <a:pt x="247" y="48"/>
                    <a:pt x="256" y="38"/>
                    <a:pt x="265" y="28"/>
                  </a:cubicBezTo>
                  <a:cubicBezTo>
                    <a:pt x="274" y="19"/>
                    <a:pt x="284" y="9"/>
                    <a:pt x="294" y="0"/>
                  </a:cubicBezTo>
                  <a:cubicBezTo>
                    <a:pt x="293" y="0"/>
                    <a:pt x="293" y="0"/>
                    <a:pt x="293" y="0"/>
                  </a:cubicBezTo>
                  <a:cubicBezTo>
                    <a:pt x="283" y="9"/>
                    <a:pt x="273" y="18"/>
                    <a:pt x="264" y="27"/>
                  </a:cubicBezTo>
                  <a:cubicBezTo>
                    <a:pt x="255" y="37"/>
                    <a:pt x="246" y="47"/>
                    <a:pt x="237" y="56"/>
                  </a:cubicBezTo>
                  <a:cubicBezTo>
                    <a:pt x="218" y="76"/>
                    <a:pt x="201" y="96"/>
                    <a:pt x="185" y="117"/>
                  </a:cubicBezTo>
                  <a:cubicBezTo>
                    <a:pt x="151" y="159"/>
                    <a:pt x="121" y="203"/>
                    <a:pt x="95" y="249"/>
                  </a:cubicBezTo>
                  <a:cubicBezTo>
                    <a:pt x="68" y="296"/>
                    <a:pt x="46" y="345"/>
                    <a:pt x="30" y="396"/>
                  </a:cubicBezTo>
                  <a:cubicBezTo>
                    <a:pt x="13" y="445"/>
                    <a:pt x="3" y="497"/>
                    <a:pt x="0" y="549"/>
                  </a:cubicBezTo>
                  <a:cubicBezTo>
                    <a:pt x="3" y="555"/>
                    <a:pt x="5" y="561"/>
                    <a:pt x="7" y="568"/>
                  </a:cubicBezTo>
                  <a:cubicBezTo>
                    <a:pt x="7" y="563"/>
                    <a:pt x="7" y="558"/>
                    <a:pt x="8" y="553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9" name="Freeform 35"/>
            <p:cNvSpPr/>
            <p:nvPr/>
          </p:nvSpPr>
          <p:spPr bwMode="auto">
            <a:xfrm>
              <a:off x="7494588" y="5664200"/>
              <a:ext cx="100013" cy="209550"/>
            </a:xfrm>
            <a:custGeom>
              <a:avLst/>
              <a:gdLst/>
              <a:ahLst/>
              <a:cxnLst/>
              <a:rect l="0" t="0" r="r" b="b"/>
              <a:pathLst>
                <a:path w="25" h="53">
                  <a:moveTo>
                    <a:pt x="0" y="0"/>
                  </a:moveTo>
                  <a:cubicBezTo>
                    <a:pt x="5" y="18"/>
                    <a:pt x="12" y="36"/>
                    <a:pt x="19" y="53"/>
                  </a:cubicBezTo>
                  <a:cubicBezTo>
                    <a:pt x="25" y="53"/>
                    <a:pt x="25" y="53"/>
                    <a:pt x="25" y="53"/>
                  </a:cubicBezTo>
                  <a:cubicBezTo>
                    <a:pt x="16" y="36"/>
                    <a:pt x="8" y="18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0" name="Freeform 36"/>
            <p:cNvSpPr/>
            <p:nvPr/>
          </p:nvSpPr>
          <p:spPr bwMode="auto">
            <a:xfrm>
              <a:off x="7412038" y="5081588"/>
              <a:ext cx="114300" cy="558800"/>
            </a:xfrm>
            <a:custGeom>
              <a:avLst/>
              <a:gdLst/>
              <a:ahLst/>
              <a:cxnLst/>
              <a:rect l="0" t="0" r="r" b="b"/>
              <a:pathLst>
                <a:path w="29" h="141">
                  <a:moveTo>
                    <a:pt x="0" y="0"/>
                  </a:moveTo>
                  <a:cubicBezTo>
                    <a:pt x="0" y="30"/>
                    <a:pt x="2" y="60"/>
                    <a:pt x="7" y="89"/>
                  </a:cubicBezTo>
                  <a:cubicBezTo>
                    <a:pt x="11" y="98"/>
                    <a:pt x="14" y="108"/>
                    <a:pt x="18" y="117"/>
                  </a:cubicBezTo>
                  <a:cubicBezTo>
                    <a:pt x="22" y="125"/>
                    <a:pt x="25" y="133"/>
                    <a:pt x="29" y="141"/>
                  </a:cubicBezTo>
                  <a:cubicBezTo>
                    <a:pt x="28" y="139"/>
                    <a:pt x="28" y="137"/>
                    <a:pt x="27" y="135"/>
                  </a:cubicBezTo>
                  <a:cubicBezTo>
                    <a:pt x="16" y="98"/>
                    <a:pt x="10" y="60"/>
                    <a:pt x="8" y="22"/>
                  </a:cubicBezTo>
                  <a:cubicBezTo>
                    <a:pt x="7" y="18"/>
                    <a:pt x="5" y="15"/>
                    <a:pt x="4" y="11"/>
                  </a:cubicBezTo>
                  <a:cubicBezTo>
                    <a:pt x="2" y="7"/>
                    <a:pt x="1" y="3"/>
                    <a:pt x="0" y="0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Freeform 37"/>
            <p:cNvSpPr/>
            <p:nvPr/>
          </p:nvSpPr>
          <p:spPr bwMode="auto">
            <a:xfrm>
              <a:off x="7412038" y="4978400"/>
              <a:ext cx="31750" cy="188913"/>
            </a:xfrm>
            <a:custGeom>
              <a:avLst/>
              <a:gdLst/>
              <a:ahLst/>
              <a:cxnLst/>
              <a:rect l="0" t="0" r="r" b="b"/>
              <a:pathLst>
                <a:path w="8" h="48">
                  <a:moveTo>
                    <a:pt x="0" y="26"/>
                  </a:moveTo>
                  <a:cubicBezTo>
                    <a:pt x="1" y="29"/>
                    <a:pt x="2" y="33"/>
                    <a:pt x="4" y="37"/>
                  </a:cubicBezTo>
                  <a:cubicBezTo>
                    <a:pt x="5" y="41"/>
                    <a:pt x="7" y="44"/>
                    <a:pt x="8" y="48"/>
                  </a:cubicBezTo>
                  <a:cubicBezTo>
                    <a:pt x="7" y="38"/>
                    <a:pt x="7" y="28"/>
                    <a:pt x="7" y="19"/>
                  </a:cubicBezTo>
                  <a:cubicBezTo>
                    <a:pt x="5" y="12"/>
                    <a:pt x="3" y="6"/>
                    <a:pt x="0" y="0"/>
                  </a:cubicBezTo>
                  <a:cubicBezTo>
                    <a:pt x="0" y="1"/>
                    <a:pt x="0" y="3"/>
                    <a:pt x="0" y="4"/>
                  </a:cubicBezTo>
                  <a:cubicBezTo>
                    <a:pt x="0" y="11"/>
                    <a:pt x="0" y="19"/>
                    <a:pt x="0" y="26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22" name="Freeform 38"/>
            <p:cNvSpPr/>
            <p:nvPr/>
          </p:nvSpPr>
          <p:spPr bwMode="auto">
            <a:xfrm>
              <a:off x="7439026" y="5434013"/>
              <a:ext cx="174625" cy="439738"/>
            </a:xfrm>
            <a:custGeom>
              <a:avLst/>
              <a:gdLst/>
              <a:ahLst/>
              <a:cxnLst/>
              <a:rect l="0" t="0" r="r" b="b"/>
              <a:pathLst>
                <a:path w="44" h="111">
                  <a:moveTo>
                    <a:pt x="11" y="28"/>
                  </a:moveTo>
                  <a:cubicBezTo>
                    <a:pt x="7" y="19"/>
                    <a:pt x="4" y="9"/>
                    <a:pt x="0" y="0"/>
                  </a:cubicBezTo>
                  <a:cubicBezTo>
                    <a:pt x="3" y="16"/>
                    <a:pt x="7" y="33"/>
                    <a:pt x="11" y="49"/>
                  </a:cubicBezTo>
                  <a:cubicBezTo>
                    <a:pt x="12" y="52"/>
                    <a:pt x="13" y="55"/>
                    <a:pt x="14" y="58"/>
                  </a:cubicBezTo>
                  <a:cubicBezTo>
                    <a:pt x="22" y="76"/>
                    <a:pt x="30" y="94"/>
                    <a:pt x="39" y="111"/>
                  </a:cubicBezTo>
                  <a:cubicBezTo>
                    <a:pt x="44" y="111"/>
                    <a:pt x="44" y="111"/>
                    <a:pt x="44" y="111"/>
                  </a:cubicBezTo>
                  <a:cubicBezTo>
                    <a:pt x="35" y="92"/>
                    <a:pt x="28" y="72"/>
                    <a:pt x="22" y="52"/>
                  </a:cubicBezTo>
                  <a:cubicBezTo>
                    <a:pt x="18" y="44"/>
                    <a:pt x="15" y="36"/>
                    <a:pt x="11" y="28"/>
                  </a:cubicBez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7" name="Rectangle 6"/>
          <p:cNvSpPr/>
          <p:nvPr/>
        </p:nvSpPr>
        <p:spPr>
          <a:xfrm>
            <a:off x="0" y="0"/>
            <a:ext cx="182880" cy="68580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/>
          <a:lstStyle/>
          <a:p>
            <a:endParaRPr lang="en-US"/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592924" y="624110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589212" y="2133600"/>
            <a:ext cx="8915400" cy="38862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361612" y="6130437"/>
            <a:ext cx="1146283" cy="370396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7B09BD0-848F-4EBB-A109-7353F2339BC4}" type="datetimeFigureOut">
              <a:rPr lang="bg-BG" smtClean="0"/>
              <a:t>11.6.2026 г.</a:t>
            </a:fld>
            <a:endParaRPr lang="bg-BG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589212" y="6135808"/>
            <a:ext cx="76199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bg-BG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531812" y="787782"/>
            <a:ext cx="77976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000">
                <a:solidFill>
                  <a:srgbClr val="FEFFFF"/>
                </a:solidFill>
              </a:defRPr>
            </a:lvl1pPr>
          </a:lstStyle>
          <a:p>
            <a:fld id="{0FDBEF42-5970-42A1-BE87-02C9A91F59B7}" type="slidenum">
              <a:rPr lang="bg-BG" smtClean="0"/>
              <a:t>‹#›</a:t>
            </a:fld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30835722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>
          <a:solidFill>
            <a:schemeClr val="tx1">
              <a:lumMod val="85000"/>
              <a:lumOff val="15000"/>
            </a:schemeClr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6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accent1"/>
        </a:buClr>
        <a:buFont typeface="Wingdings 3" charset="2"/>
        <a:buChar char=""/>
        <a:defRPr sz="12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bda.bg/bg/%D1%80%D0%B5%D0%B3%D0%B8%D1%81%D1%82%D1%80%D0%B8/%D0%BB%D0%B8%D1%81%D1%82%D0%BE%D0%B2%D0%BA%D0%B8-%D0%B7%D0%B0-%D0%BF%D0%B0%D1%86%D0%B8%D0%B5%D0%BD%D1%82%D0%B0" TargetMode="Externa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91476" y="1926772"/>
            <a:ext cx="10039739" cy="2262781"/>
          </a:xfrm>
        </p:spPr>
        <p:txBody>
          <a:bodyPr/>
          <a:lstStyle/>
          <a:p>
            <a:r>
              <a:rPr lang="en-US" dirty="0"/>
              <a:t>RAG </a:t>
            </a:r>
            <a:r>
              <a:rPr lang="bg-BG" dirty="0"/>
              <a:t>асистент за лекарства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1890" y="4282857"/>
            <a:ext cx="8915399" cy="1126283"/>
          </a:xfrm>
        </p:spPr>
        <p:txBody>
          <a:bodyPr/>
          <a:lstStyle/>
          <a:p>
            <a:r>
              <a:rPr lang="bg-BG" dirty="0"/>
              <a:t>Стилиян Кожухаров</a:t>
            </a:r>
            <a:r>
              <a:rPr lang="en-US" dirty="0"/>
              <a:t>, </a:t>
            </a:r>
            <a:r>
              <a:rPr lang="bg-BG" dirty="0"/>
              <a:t>Илиян </a:t>
            </a:r>
            <a:r>
              <a:rPr lang="bg-BG" dirty="0" err="1"/>
              <a:t>Свечев</a:t>
            </a:r>
            <a:r>
              <a:rPr lang="en-US" dirty="0"/>
              <a:t>, </a:t>
            </a:r>
            <a:r>
              <a:rPr lang="bg-BG" dirty="0"/>
              <a:t>Самуил Илиев</a:t>
            </a:r>
          </a:p>
        </p:txBody>
      </p:sp>
    </p:spTree>
    <p:extLst>
      <p:ext uri="{BB962C8B-B14F-4D97-AF65-F5344CB8AC3E}">
        <p14:creationId xmlns:p14="http://schemas.microsoft.com/office/powerpoint/2010/main" val="54723856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Задача и мотивация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Ø"/>
            </a:pPr>
            <a:r>
              <a:rPr lang="ru-RU" dirty="0"/>
              <a:t>Проблем: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ru-RU" dirty="0" err="1"/>
              <a:t>Листовките</a:t>
            </a:r>
            <a:r>
              <a:rPr lang="ru-RU" dirty="0"/>
              <a:t> на </a:t>
            </a:r>
            <a:r>
              <a:rPr lang="ru-RU" dirty="0" err="1"/>
              <a:t>лекарствата</a:t>
            </a:r>
            <a:r>
              <a:rPr lang="ru-RU" dirty="0"/>
              <a:t> </a:t>
            </a:r>
            <a:r>
              <a:rPr lang="ru-RU" dirty="0" err="1"/>
              <a:t>са</a:t>
            </a:r>
            <a:r>
              <a:rPr lang="ru-RU" dirty="0"/>
              <a:t> </a:t>
            </a:r>
            <a:r>
              <a:rPr lang="ru-RU" dirty="0" err="1"/>
              <a:t>дълги</a:t>
            </a:r>
            <a:r>
              <a:rPr lang="ru-RU" dirty="0"/>
              <a:t> и </a:t>
            </a:r>
            <a:r>
              <a:rPr lang="ru-RU" dirty="0" err="1"/>
              <a:t>трудни</a:t>
            </a:r>
            <a:r>
              <a:rPr lang="ru-RU" dirty="0"/>
              <a:t> за </a:t>
            </a:r>
            <a:r>
              <a:rPr lang="ru-RU" dirty="0" err="1"/>
              <a:t>търсене</a:t>
            </a:r>
            <a:r>
              <a:rPr lang="ru-RU" dirty="0"/>
              <a:t>. 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ru-RU" dirty="0" err="1"/>
              <a:t>Потребителите</a:t>
            </a:r>
            <a:r>
              <a:rPr lang="ru-RU" dirty="0"/>
              <a:t> </a:t>
            </a:r>
            <a:r>
              <a:rPr lang="ru-RU" dirty="0" err="1"/>
              <a:t>често</a:t>
            </a:r>
            <a:r>
              <a:rPr lang="ru-RU" dirty="0"/>
              <a:t> </a:t>
            </a:r>
            <a:r>
              <a:rPr lang="ru-RU" dirty="0" err="1"/>
              <a:t>задават</a:t>
            </a:r>
            <a:r>
              <a:rPr lang="ru-RU" dirty="0"/>
              <a:t> </a:t>
            </a:r>
            <a:r>
              <a:rPr lang="ru-RU" dirty="0" err="1"/>
              <a:t>конкретни</a:t>
            </a:r>
            <a:r>
              <a:rPr lang="ru-RU" dirty="0"/>
              <a:t> </a:t>
            </a:r>
            <a:r>
              <a:rPr lang="ru-RU" dirty="0" err="1"/>
              <a:t>въпроси</a:t>
            </a:r>
            <a:r>
              <a:rPr lang="ru-RU" dirty="0"/>
              <a:t>: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ru-RU" dirty="0"/>
              <a:t>„</a:t>
            </a:r>
            <a:r>
              <a:rPr lang="ru-RU" dirty="0" err="1"/>
              <a:t>Мога</a:t>
            </a:r>
            <a:r>
              <a:rPr lang="ru-RU" dirty="0"/>
              <a:t> ли да приемам </a:t>
            </a:r>
            <a:r>
              <a:rPr lang="ru-RU" dirty="0" err="1"/>
              <a:t>лекарството</a:t>
            </a:r>
            <a:r>
              <a:rPr lang="ru-RU" dirty="0"/>
              <a:t> при </a:t>
            </a:r>
            <a:r>
              <a:rPr lang="ru-RU" dirty="0" err="1"/>
              <a:t>бременност</a:t>
            </a:r>
            <a:r>
              <a:rPr lang="ru-RU" dirty="0"/>
              <a:t>?“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ru-RU" dirty="0"/>
              <a:t>„Какво да приема за главоболие?“ </a:t>
            </a:r>
          </a:p>
          <a:p>
            <a:pPr lvl="1">
              <a:buFont typeface="Arial" panose="020B0604020202020204" pitchFamily="34" charset="0"/>
              <a:buChar char="•"/>
            </a:pPr>
            <a:r>
              <a:rPr lang="ru-RU" dirty="0"/>
              <a:t>„</a:t>
            </a:r>
            <a:r>
              <a:rPr lang="ru-RU" dirty="0" err="1"/>
              <a:t>Каква</a:t>
            </a:r>
            <a:r>
              <a:rPr lang="ru-RU" dirty="0"/>
              <a:t> е </a:t>
            </a:r>
            <a:r>
              <a:rPr lang="ru-RU" dirty="0" err="1"/>
              <a:t>дозировката</a:t>
            </a:r>
            <a:r>
              <a:rPr lang="ru-RU" dirty="0"/>
              <a:t>?“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ru-RU" dirty="0"/>
              <a:t>Цел: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ru-RU" dirty="0" err="1"/>
              <a:t>Създаване</a:t>
            </a:r>
            <a:r>
              <a:rPr lang="ru-RU" dirty="0"/>
              <a:t> на </a:t>
            </a:r>
            <a:r>
              <a:rPr lang="ru-RU" dirty="0" err="1"/>
              <a:t>български</a:t>
            </a:r>
            <a:r>
              <a:rPr lang="ru-RU" dirty="0"/>
              <a:t> RAG </a:t>
            </a:r>
            <a:r>
              <a:rPr lang="ru-RU" dirty="0" err="1"/>
              <a:t>асистент</a:t>
            </a:r>
            <a:r>
              <a:rPr lang="ru-RU" dirty="0"/>
              <a:t>, </a:t>
            </a:r>
            <a:r>
              <a:rPr lang="ru-RU" dirty="0" err="1"/>
              <a:t>който</a:t>
            </a:r>
            <a:r>
              <a:rPr lang="ru-RU" dirty="0"/>
              <a:t> </a:t>
            </a:r>
            <a:r>
              <a:rPr lang="ru-RU" dirty="0" err="1"/>
              <a:t>отговаря</a:t>
            </a:r>
            <a:r>
              <a:rPr lang="ru-RU" dirty="0"/>
              <a:t> на </a:t>
            </a:r>
            <a:r>
              <a:rPr lang="ru-RU" dirty="0" err="1"/>
              <a:t>въпроси</a:t>
            </a:r>
            <a:r>
              <a:rPr lang="ru-RU" dirty="0"/>
              <a:t>, </a:t>
            </a:r>
            <a:r>
              <a:rPr lang="ru-RU" dirty="0" err="1"/>
              <a:t>използвайки</a:t>
            </a:r>
            <a:r>
              <a:rPr lang="ru-RU" dirty="0"/>
              <a:t> </a:t>
            </a:r>
            <a:r>
              <a:rPr lang="ru-RU" dirty="0" err="1"/>
              <a:t>официални</a:t>
            </a:r>
            <a:r>
              <a:rPr lang="ru-RU" dirty="0"/>
              <a:t> </a:t>
            </a:r>
            <a:r>
              <a:rPr lang="ru-RU" dirty="0" err="1"/>
              <a:t>лекарствени</a:t>
            </a:r>
            <a:r>
              <a:rPr lang="ru-RU" dirty="0"/>
              <a:t> листовки.</a:t>
            </a:r>
          </a:p>
        </p:txBody>
      </p:sp>
    </p:spTree>
    <p:extLst>
      <p:ext uri="{BB962C8B-B14F-4D97-AF65-F5344CB8AC3E}">
        <p14:creationId xmlns:p14="http://schemas.microsoft.com/office/powerpoint/2010/main" val="22807431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400">
        <p14:reveal/>
      </p:transition>
    </mc:Choice>
    <mc:Fallback xmlns="">
      <p:transition spd="slow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Предизвикателства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Char char="Ø"/>
            </a:pPr>
            <a:r>
              <a:rPr lang="ru-RU" dirty="0"/>
              <a:t>PDF </a:t>
            </a:r>
            <a:r>
              <a:rPr lang="ru-RU" dirty="0" err="1"/>
              <a:t>файлове</a:t>
            </a:r>
            <a:r>
              <a:rPr lang="ru-RU" dirty="0"/>
              <a:t> с различно качество.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ru-RU" dirty="0"/>
              <a:t>Грешки при </a:t>
            </a:r>
            <a:r>
              <a:rPr lang="ru-RU" dirty="0" err="1"/>
              <a:t>извличане</a:t>
            </a:r>
            <a:r>
              <a:rPr lang="ru-RU" dirty="0"/>
              <a:t> на текст.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ru-RU" dirty="0" err="1"/>
              <a:t>Дълги</a:t>
            </a:r>
            <a:r>
              <a:rPr lang="ru-RU" dirty="0"/>
              <a:t> </a:t>
            </a:r>
            <a:r>
              <a:rPr lang="ru-RU" dirty="0" err="1"/>
              <a:t>документи</a:t>
            </a:r>
            <a:r>
              <a:rPr lang="ru-RU" dirty="0"/>
              <a:t>.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ru-RU" dirty="0" err="1"/>
              <a:t>Медицинска</a:t>
            </a:r>
            <a:r>
              <a:rPr lang="ru-RU" dirty="0"/>
              <a:t> терминология.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ru-RU" dirty="0" err="1"/>
              <a:t>Необходимост</a:t>
            </a:r>
            <a:r>
              <a:rPr lang="ru-RU" dirty="0"/>
              <a:t> от </a:t>
            </a:r>
            <a:r>
              <a:rPr lang="ru-RU" dirty="0" err="1"/>
              <a:t>надеждни</a:t>
            </a:r>
            <a:r>
              <a:rPr lang="ru-RU" dirty="0"/>
              <a:t> отговори. </a:t>
            </a:r>
          </a:p>
        </p:txBody>
      </p:sp>
    </p:spTree>
    <p:extLst>
      <p:ext uri="{BB962C8B-B14F-4D97-AF65-F5344CB8AC3E}">
        <p14:creationId xmlns:p14="http://schemas.microsoft.com/office/powerpoint/2010/main" val="1502846990"/>
      </p:ext>
    </p:extLst>
  </p:cSld>
  <p:clrMapOvr>
    <a:masterClrMapping/>
  </p:clrMapOvr>
  <p:transition spd="slow">
    <p:cover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Предизвикателства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41538" y="1466082"/>
            <a:ext cx="3992732" cy="576262"/>
          </a:xfrm>
        </p:spPr>
        <p:txBody>
          <a:bodyPr/>
          <a:lstStyle/>
          <a:p>
            <a:r>
              <a:rPr lang="en-US" dirty="0"/>
              <a:t>PDF </a:t>
            </a:r>
            <a:r>
              <a:rPr lang="bg-BG" dirty="0"/>
              <a:t>на листовка</a:t>
            </a:r>
          </a:p>
        </p:txBody>
      </p:sp>
      <p:pic>
        <p:nvPicPr>
          <p:cNvPr id="7" name="Content Placeholder 6"/>
          <p:cNvPicPr>
            <a:picLocks noGrp="1" noChangeAspect="1"/>
          </p:cNvPicPr>
          <p:nvPr>
            <p:ph sz="half" idx="2"/>
          </p:nvPr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61866" y="2042344"/>
            <a:ext cx="5505062" cy="4199835"/>
          </a:xfrm>
        </p:spPr>
      </p:pic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7925522" y="1467258"/>
            <a:ext cx="3999001" cy="576262"/>
          </a:xfrm>
        </p:spPr>
        <p:txBody>
          <a:bodyPr/>
          <a:lstStyle/>
          <a:p>
            <a:r>
              <a:rPr lang="bg-BG" dirty="0"/>
              <a:t>След извличане</a:t>
            </a:r>
          </a:p>
        </p:txBody>
      </p:sp>
      <p:pic>
        <p:nvPicPr>
          <p:cNvPr id="8" name="Content Placeholder 7"/>
          <p:cNvPicPr>
            <a:picLocks noGrp="1" noChangeAspect="1"/>
          </p:cNvPicPr>
          <p:nvPr>
            <p:ph sz="quarter" idx="4"/>
          </p:nvPr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36703" y="2042343"/>
            <a:ext cx="5187820" cy="4199836"/>
          </a:xfrm>
        </p:spPr>
      </p:pic>
      <p:sp>
        <p:nvSpPr>
          <p:cNvPr id="9" name="Right Arrow 8"/>
          <p:cNvSpPr/>
          <p:nvPr/>
        </p:nvSpPr>
        <p:spPr>
          <a:xfrm>
            <a:off x="5934270" y="3745710"/>
            <a:ext cx="802433" cy="634482"/>
          </a:xfrm>
          <a:prstGeom prst="rightArrow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bg-BG"/>
          </a:p>
        </p:txBody>
      </p:sp>
      <p:sp>
        <p:nvSpPr>
          <p:cNvPr id="10" name="Oval 9"/>
          <p:cNvSpPr/>
          <p:nvPr/>
        </p:nvSpPr>
        <p:spPr>
          <a:xfrm>
            <a:off x="3342694" y="3469398"/>
            <a:ext cx="2006081" cy="447869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bg-BG"/>
          </a:p>
        </p:txBody>
      </p:sp>
      <p:sp>
        <p:nvSpPr>
          <p:cNvPr id="11" name="Oval 10"/>
          <p:cNvSpPr/>
          <p:nvPr/>
        </p:nvSpPr>
        <p:spPr>
          <a:xfrm>
            <a:off x="9517224" y="3315442"/>
            <a:ext cx="1175658" cy="307911"/>
          </a:xfrm>
          <a:prstGeom prst="ellipse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352819510"/>
      </p:ext>
    </p:extLst>
  </p:cSld>
  <p:clrMapOvr>
    <a:masterClrMapping/>
  </p:clrMapOvr>
  <p:transition spd="slow">
    <p:wipe dir="u"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Общ преглед на решението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bg-BG" dirty="0"/>
              <a:t>Подготовка на данните</a:t>
            </a:r>
            <a:endParaRPr lang="en-US" dirty="0"/>
          </a:p>
          <a:p>
            <a:r>
              <a:rPr lang="bg-BG" dirty="0"/>
              <a:t>Сегментиране по секции</a:t>
            </a:r>
            <a:r>
              <a:rPr lang="en-US" dirty="0"/>
              <a:t> </a:t>
            </a:r>
            <a:endParaRPr lang="bg-BG" dirty="0"/>
          </a:p>
          <a:p>
            <a:r>
              <a:rPr lang="en-US" dirty="0"/>
              <a:t>Chunking </a:t>
            </a:r>
            <a:r>
              <a:rPr lang="bg-BG" dirty="0"/>
              <a:t>стратегия</a:t>
            </a:r>
          </a:p>
          <a:p>
            <a:r>
              <a:rPr lang="en-US" dirty="0"/>
              <a:t>Embeddings</a:t>
            </a:r>
            <a:r>
              <a:rPr lang="bg-BG" dirty="0"/>
              <a:t> и извличане</a:t>
            </a:r>
          </a:p>
          <a:p>
            <a:r>
              <a:rPr lang="bg-BG" dirty="0"/>
              <a:t>Генериране</a:t>
            </a:r>
          </a:p>
          <a:p>
            <a:endParaRPr lang="en-US" dirty="0"/>
          </a:p>
          <a:p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2275113976"/>
      </p:ext>
    </p:extLst>
  </p:cSld>
  <p:clrMapOvr>
    <a:masterClrMapping/>
  </p:clrMapOvr>
  <p:transition spd="med">
    <p:pull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Подготовка на данните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bg-BG" dirty="0"/>
              <a:t>Източник на данни – </a:t>
            </a:r>
            <a:r>
              <a:rPr lang="bg-BG" dirty="0">
                <a:hlinkClick r:id="rId2"/>
              </a:rPr>
              <a:t>листовки за пациента от ИАЛ</a:t>
            </a:r>
            <a:endParaRPr lang="en-US" dirty="0">
              <a:hlinkClick r:id="rId2"/>
            </a:endParaRPr>
          </a:p>
          <a:p>
            <a:pPr>
              <a:buFont typeface="Courier New" panose="02070309020205020404" pitchFamily="49" charset="0"/>
              <a:buChar char="o"/>
            </a:pPr>
            <a:r>
              <a:rPr lang="bg-BG" dirty="0"/>
              <a:t>Формат </a:t>
            </a:r>
            <a:r>
              <a:rPr lang="en-US" dirty="0"/>
              <a:t>PDF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ru-RU" dirty="0"/>
              <a:t>Обработка: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ru-RU" dirty="0" err="1"/>
              <a:t>Конвертиране</a:t>
            </a:r>
            <a:r>
              <a:rPr lang="ru-RU" dirty="0"/>
              <a:t> в текст 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ru-RU" dirty="0"/>
              <a:t>Нормализация 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ru-RU" dirty="0" err="1"/>
              <a:t>Премахване</a:t>
            </a:r>
            <a:r>
              <a:rPr lang="ru-RU" dirty="0"/>
              <a:t> на шум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ru-RU" dirty="0" err="1"/>
              <a:t>Брой</a:t>
            </a:r>
            <a:r>
              <a:rPr lang="ru-RU" dirty="0"/>
              <a:t>:</a:t>
            </a:r>
            <a:r>
              <a:rPr lang="en-US" dirty="0"/>
              <a:t> 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en-US" dirty="0"/>
              <a:t>1438</a:t>
            </a:r>
            <a:r>
              <a:rPr lang="ru-RU" dirty="0"/>
              <a:t> листовки 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en-US" dirty="0"/>
              <a:t>42</a:t>
            </a:r>
            <a:r>
              <a:rPr lang="ru-RU" dirty="0"/>
              <a:t> MB текст</a:t>
            </a:r>
          </a:p>
          <a:p>
            <a:pPr>
              <a:buFont typeface="Wingdings" panose="05000000000000000000" pitchFamily="2" charset="2"/>
              <a:buChar char="Ø"/>
            </a:pPr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1937155229"/>
      </p:ext>
    </p:extLst>
  </p:cSld>
  <p:clrMapOvr>
    <a:masterClrMapping/>
  </p:clrMapOvr>
  <mc:AlternateContent xmlns:mc="http://schemas.openxmlformats.org/markup-compatibility/2006" xmlns:p159="http://schemas.microsoft.com/office/powerpoint/2015/09/main">
    <mc:Choice Requires="p159">
      <p:transition xmlns:p14="http://schemas.microsoft.com/office/powerpoint/2010/main" spd="slow" p14:dur="2000">
        <p159:morph option="byObject"/>
      </p:transition>
    </mc:Choice>
    <mc:Fallback xmlns=""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Сегментиране по секции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1573764"/>
            <a:ext cx="8915400" cy="3777622"/>
          </a:xfrm>
        </p:spPr>
        <p:txBody>
          <a:bodyPr/>
          <a:lstStyle/>
          <a:p>
            <a:pPr>
              <a:buFont typeface="Wingdings" panose="05000000000000000000" pitchFamily="2" charset="2"/>
              <a:buChar char="Ø"/>
            </a:pPr>
            <a:r>
              <a:rPr lang="ru-RU" dirty="0"/>
              <a:t>Известен формат</a:t>
            </a:r>
            <a:r>
              <a:rPr lang="en-US" dirty="0"/>
              <a:t> </a:t>
            </a:r>
            <a:r>
              <a:rPr lang="bg-BG" dirty="0"/>
              <a:t>на всяка листовка</a:t>
            </a:r>
            <a:r>
              <a:rPr lang="en-US" dirty="0"/>
              <a:t>:</a:t>
            </a:r>
            <a:endParaRPr lang="ru-RU" dirty="0"/>
          </a:p>
          <a:p>
            <a:pPr marL="0" indent="0">
              <a:buNone/>
            </a:pPr>
            <a:r>
              <a:rPr lang="ru-RU" dirty="0"/>
              <a:t>1</a:t>
            </a:r>
            <a:r>
              <a:rPr lang="en-US" dirty="0"/>
              <a:t>. </a:t>
            </a:r>
            <a:r>
              <a:rPr lang="ru-RU" dirty="0" err="1"/>
              <a:t>Какво</a:t>
            </a:r>
            <a:r>
              <a:rPr lang="ru-RU" dirty="0"/>
              <a:t> </a:t>
            </a:r>
            <a:r>
              <a:rPr lang="ru-RU" dirty="0" err="1"/>
              <a:t>представлява</a:t>
            </a:r>
            <a:r>
              <a:rPr lang="ru-RU" dirty="0"/>
              <a:t>...</a:t>
            </a:r>
            <a:br>
              <a:rPr lang="ru-RU" dirty="0"/>
            </a:br>
            <a:r>
              <a:rPr lang="ru-RU" dirty="0"/>
              <a:t>2. </a:t>
            </a:r>
            <a:r>
              <a:rPr lang="ru-RU" dirty="0" err="1"/>
              <a:t>Какво</a:t>
            </a:r>
            <a:r>
              <a:rPr lang="ru-RU" dirty="0"/>
              <a:t> </a:t>
            </a:r>
            <a:r>
              <a:rPr lang="ru-RU" dirty="0" err="1"/>
              <a:t>трябва</a:t>
            </a:r>
            <a:r>
              <a:rPr lang="ru-RU" dirty="0"/>
              <a:t> да знаете...</a:t>
            </a:r>
            <a:br>
              <a:rPr lang="ru-RU" dirty="0"/>
            </a:br>
            <a:r>
              <a:rPr lang="ru-RU" dirty="0"/>
              <a:t>3. Как се </a:t>
            </a:r>
            <a:r>
              <a:rPr lang="ru-RU" dirty="0" err="1"/>
              <a:t>прилага</a:t>
            </a:r>
            <a:r>
              <a:rPr lang="ru-RU" dirty="0"/>
              <a:t>...</a:t>
            </a:r>
            <a:br>
              <a:rPr lang="ru-RU" dirty="0"/>
            </a:br>
            <a:r>
              <a:rPr lang="ru-RU" dirty="0"/>
              <a:t>4. </a:t>
            </a:r>
            <a:r>
              <a:rPr lang="ru-RU" dirty="0" err="1"/>
              <a:t>Възможни</a:t>
            </a:r>
            <a:r>
              <a:rPr lang="ru-RU" dirty="0"/>
              <a:t> </a:t>
            </a:r>
            <a:r>
              <a:rPr lang="ru-RU" dirty="0" err="1"/>
              <a:t>нежелани</a:t>
            </a:r>
            <a:r>
              <a:rPr lang="ru-RU" dirty="0"/>
              <a:t> реакции...</a:t>
            </a:r>
            <a:br>
              <a:rPr lang="ru-RU" dirty="0"/>
            </a:br>
            <a:r>
              <a:rPr lang="ru-RU" dirty="0"/>
              <a:t>5. Как да </a:t>
            </a:r>
            <a:r>
              <a:rPr lang="ru-RU" dirty="0" err="1"/>
              <a:t>съхранявате</a:t>
            </a:r>
            <a:r>
              <a:rPr lang="ru-RU" dirty="0"/>
              <a:t>...</a:t>
            </a:r>
          </a:p>
          <a:p>
            <a:pPr marL="0" indent="0">
              <a:buNone/>
            </a:pPr>
            <a:endParaRPr lang="ru-RU" dirty="0"/>
          </a:p>
          <a:p>
            <a:pPr>
              <a:buFont typeface="Courier New" panose="02070309020205020404" pitchFamily="49" charset="0"/>
              <a:buChar char="o"/>
            </a:pPr>
            <a:r>
              <a:rPr lang="ru-RU" dirty="0" err="1"/>
              <a:t>Използвани</a:t>
            </a:r>
            <a:r>
              <a:rPr lang="ru-RU" dirty="0"/>
              <a:t> </a:t>
            </a:r>
            <a:r>
              <a:rPr lang="ru-RU" dirty="0" err="1"/>
              <a:t>са</a:t>
            </a:r>
            <a:r>
              <a:rPr lang="ru-RU" dirty="0"/>
              <a:t> </a:t>
            </a:r>
            <a:r>
              <a:rPr lang="ru-RU" dirty="0" err="1"/>
              <a:t>известните</a:t>
            </a:r>
            <a:r>
              <a:rPr lang="ru-RU" dirty="0"/>
              <a:t> заглавия на </a:t>
            </a:r>
            <a:r>
              <a:rPr lang="bg-BG" dirty="0"/>
              <a:t>секции на </a:t>
            </a:r>
            <a:r>
              <a:rPr lang="ru-RU" dirty="0" err="1"/>
              <a:t>листовките</a:t>
            </a:r>
            <a:r>
              <a:rPr lang="ru-RU" dirty="0"/>
              <a:t>.</a:t>
            </a:r>
            <a:endParaRPr lang="bg-BG" dirty="0"/>
          </a:p>
          <a:p>
            <a:pPr>
              <a:buFont typeface="Courier New" panose="02070309020205020404" pitchFamily="49" charset="0"/>
              <a:buChar char="o"/>
            </a:pPr>
            <a:r>
              <a:rPr lang="ru-RU" dirty="0" err="1"/>
              <a:t>Използвано</a:t>
            </a:r>
            <a:r>
              <a:rPr lang="ru-RU" dirty="0"/>
              <a:t> е </a:t>
            </a:r>
            <a:r>
              <a:rPr lang="ru-RU" dirty="0" err="1"/>
              <a:t>fuzzy</a:t>
            </a:r>
            <a:r>
              <a:rPr lang="ru-RU" dirty="0"/>
              <a:t> </a:t>
            </a:r>
            <a:r>
              <a:rPr lang="ru-RU" dirty="0" err="1"/>
              <a:t>matching</a:t>
            </a:r>
            <a:r>
              <a:rPr lang="ru-RU" dirty="0"/>
              <a:t> за </a:t>
            </a:r>
            <a:r>
              <a:rPr lang="ru-RU" dirty="0" err="1"/>
              <a:t>справяне</a:t>
            </a:r>
            <a:r>
              <a:rPr lang="ru-RU" dirty="0"/>
              <a:t> с грешки от PDF </a:t>
            </a:r>
            <a:r>
              <a:rPr lang="ru-RU" dirty="0" err="1"/>
              <a:t>извличането</a:t>
            </a:r>
            <a:r>
              <a:rPr lang="ru-RU" dirty="0"/>
              <a:t>.</a:t>
            </a:r>
          </a:p>
          <a:p>
            <a:pPr>
              <a:buFont typeface="Courier New" panose="02070309020205020404" pitchFamily="49" charset="0"/>
              <a:buChar char="o"/>
            </a:pPr>
            <a:r>
              <a:rPr lang="bg-BG" dirty="0"/>
              <a:t>Игнорира се първото срещане на заглавията </a:t>
            </a:r>
            <a:r>
              <a:rPr lang="en-US" dirty="0"/>
              <a:t>(</a:t>
            </a:r>
            <a:r>
              <a:rPr lang="bg-BG" dirty="0"/>
              <a:t>индексът</a:t>
            </a:r>
            <a:r>
              <a:rPr lang="en-US" dirty="0"/>
              <a:t>).</a:t>
            </a:r>
            <a:endParaRPr lang="bg-BG" dirty="0"/>
          </a:p>
        </p:txBody>
      </p:sp>
    </p:spTree>
    <p:extLst>
      <p:ext uri="{BB962C8B-B14F-4D97-AF65-F5344CB8AC3E}">
        <p14:creationId xmlns:p14="http://schemas.microsoft.com/office/powerpoint/2010/main" val="4059251188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58443" y="624110"/>
            <a:ext cx="8911687" cy="1280890"/>
          </a:xfrm>
        </p:spPr>
        <p:txBody>
          <a:bodyPr/>
          <a:lstStyle/>
          <a:p>
            <a:r>
              <a:rPr lang="en-US" dirty="0"/>
              <a:t>Chunking </a:t>
            </a:r>
            <a:r>
              <a:rPr lang="bg-BG" dirty="0"/>
              <a:t>стратегия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7711717" y="1264555"/>
            <a:ext cx="4623352" cy="441649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ru-RU" dirty="0"/>
              <a:t>Примерен </a:t>
            </a:r>
            <a:r>
              <a:rPr lang="en-US" dirty="0"/>
              <a:t>chunk:</a:t>
            </a:r>
            <a:endParaRPr lang="ru-RU" dirty="0"/>
          </a:p>
          <a:p>
            <a:pPr marL="0" indent="0">
              <a:buNone/>
            </a:pPr>
            <a:r>
              <a:rPr lang="ru-RU" dirty="0"/>
              <a:t>{</a:t>
            </a:r>
          </a:p>
          <a:p>
            <a:pPr marL="0" indent="0">
              <a:buNone/>
            </a:pPr>
            <a:r>
              <a:rPr lang="ru-RU" dirty="0"/>
              <a:t>    "</a:t>
            </a:r>
            <a:r>
              <a:rPr lang="ru-RU" dirty="0" err="1"/>
              <a:t>vector_id</a:t>
            </a:r>
            <a:r>
              <a:rPr lang="ru-RU" dirty="0"/>
              <a:t>": 497,</a:t>
            </a:r>
          </a:p>
          <a:p>
            <a:pPr marL="0" indent="0">
              <a:buNone/>
            </a:pPr>
            <a:r>
              <a:rPr lang="ru-RU" dirty="0"/>
              <a:t>    "</a:t>
            </a:r>
            <a:r>
              <a:rPr lang="ru-RU" dirty="0" err="1"/>
              <a:t>medicine_name</a:t>
            </a:r>
            <a:r>
              <a:rPr lang="ru-RU" dirty="0"/>
              <a:t>": "</a:t>
            </a:r>
            <a:r>
              <a:rPr lang="ru-RU" dirty="0" err="1"/>
              <a:t>брауновидон</a:t>
            </a:r>
            <a:r>
              <a:rPr lang="ru-RU" dirty="0"/>
              <a:t>",</a:t>
            </a:r>
          </a:p>
          <a:p>
            <a:pPr marL="0" indent="0">
              <a:buNone/>
            </a:pPr>
            <a:r>
              <a:rPr lang="ru-RU" dirty="0"/>
              <a:t>    "</a:t>
            </a:r>
            <a:r>
              <a:rPr lang="ru-RU" dirty="0" err="1"/>
              <a:t>section_id</a:t>
            </a:r>
            <a:r>
              <a:rPr lang="ru-RU" dirty="0"/>
              <a:t>": "4",</a:t>
            </a:r>
          </a:p>
          <a:p>
            <a:pPr marL="0" indent="0">
              <a:buNone/>
            </a:pPr>
            <a:r>
              <a:rPr lang="ru-RU" dirty="0"/>
              <a:t>    "</a:t>
            </a:r>
            <a:r>
              <a:rPr lang="ru-RU" dirty="0" err="1"/>
              <a:t>chunk_id</a:t>
            </a:r>
            <a:r>
              <a:rPr lang="ru-RU" dirty="0"/>
              <a:t>": 1,</a:t>
            </a:r>
          </a:p>
          <a:p>
            <a:pPr marL="0" indent="0">
              <a:buNone/>
            </a:pPr>
            <a:r>
              <a:rPr lang="ru-RU" dirty="0"/>
              <a:t>    "</a:t>
            </a:r>
            <a:r>
              <a:rPr lang="ru-RU" dirty="0" err="1"/>
              <a:t>chars</a:t>
            </a:r>
            <a:r>
              <a:rPr lang="ru-RU" dirty="0"/>
              <a:t>": </a:t>
            </a:r>
            <a:r>
              <a:rPr lang="en-US" dirty="0"/>
              <a:t>9</a:t>
            </a:r>
            <a:r>
              <a:rPr lang="ru-RU" dirty="0"/>
              <a:t>23,</a:t>
            </a:r>
          </a:p>
          <a:p>
            <a:pPr marL="0" indent="0">
              <a:buNone/>
            </a:pPr>
            <a:r>
              <a:rPr lang="ru-RU" dirty="0"/>
              <a:t>    "</a:t>
            </a:r>
            <a:r>
              <a:rPr lang="ru-RU" dirty="0" err="1"/>
              <a:t>text</a:t>
            </a:r>
            <a:r>
              <a:rPr lang="ru-RU" dirty="0"/>
              <a:t>": "</a:t>
            </a:r>
            <a:r>
              <a:rPr lang="ru-RU" dirty="0" err="1"/>
              <a:t>Както</a:t>
            </a:r>
            <a:r>
              <a:rPr lang="ru-RU" dirty="0"/>
              <a:t> </a:t>
            </a:r>
            <a:r>
              <a:rPr lang="ru-RU" dirty="0" err="1"/>
              <a:t>всички</a:t>
            </a:r>
            <a:r>
              <a:rPr lang="ru-RU" dirty="0"/>
              <a:t> лекарства, </a:t>
            </a:r>
            <a:r>
              <a:rPr lang="ru-RU" dirty="0" err="1"/>
              <a:t>Брауновидон</a:t>
            </a:r>
            <a:r>
              <a:rPr lang="ru-RU" dirty="0"/>
              <a:t> </a:t>
            </a:r>
            <a:r>
              <a:rPr lang="ru-RU" dirty="0" err="1"/>
              <a:t>може</a:t>
            </a:r>
            <a:r>
              <a:rPr lang="ru-RU" dirty="0"/>
              <a:t> да </a:t>
            </a:r>
            <a:r>
              <a:rPr lang="ru-RU" dirty="0" err="1"/>
              <a:t>предизвика</a:t>
            </a:r>
            <a:r>
              <a:rPr lang="ru-RU" dirty="0"/>
              <a:t> </a:t>
            </a:r>
            <a:r>
              <a:rPr lang="ru-RU" dirty="0" err="1"/>
              <a:t>нежелани</a:t>
            </a:r>
            <a:r>
              <a:rPr lang="ru-RU" dirty="0"/>
              <a:t> реакции, </a:t>
            </a:r>
            <a:r>
              <a:rPr lang="ru-RU" dirty="0" err="1"/>
              <a:t>въпреки</a:t>
            </a:r>
            <a:r>
              <a:rPr lang="ru-RU" dirty="0"/>
              <a:t> че не </a:t>
            </a:r>
            <a:r>
              <a:rPr lang="ru-RU" dirty="0" err="1"/>
              <a:t>всеки</a:t>
            </a:r>
            <a:r>
              <a:rPr lang="ru-RU" dirty="0"/>
              <a:t> </a:t>
            </a:r>
            <a:r>
              <a:rPr lang="ru-RU" dirty="0" err="1"/>
              <a:t>ги</a:t>
            </a:r>
            <a:r>
              <a:rPr lang="ru-RU" dirty="0"/>
              <a:t> </a:t>
            </a:r>
            <a:r>
              <a:rPr lang="ru-RU" dirty="0" err="1"/>
              <a:t>получава</a:t>
            </a:r>
            <a:r>
              <a:rPr lang="ru-RU" dirty="0"/>
              <a:t>…  },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630457" y="1619119"/>
            <a:ext cx="5250802" cy="4929673"/>
          </a:xfrm>
        </p:spPr>
        <p:txBody>
          <a:bodyPr>
            <a:normAutofit/>
          </a:bodyPr>
          <a:lstStyle/>
          <a:p>
            <a:pPr>
              <a:buFont typeface="Wingdings" panose="05000000000000000000" pitchFamily="2" charset="2"/>
              <a:buChar char="Ø"/>
            </a:pPr>
            <a:r>
              <a:rPr lang="bg-BG" dirty="0"/>
              <a:t>Разделяне на секция на подсекции с  максимална дължина 1</a:t>
            </a:r>
            <a:r>
              <a:rPr lang="en-US" dirty="0"/>
              <a:t>0</a:t>
            </a:r>
            <a:r>
              <a:rPr lang="bg-BG" dirty="0"/>
              <a:t>00 символа</a:t>
            </a:r>
            <a:r>
              <a:rPr lang="en-US" dirty="0"/>
              <a:t>, </a:t>
            </a:r>
            <a:r>
              <a:rPr lang="bg-BG" dirty="0"/>
              <a:t>за по-бързо четене от генериращия модел.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bg-BG" dirty="0"/>
              <a:t>Използване на 100 символа припокриване между подсекции</a:t>
            </a:r>
            <a:r>
              <a:rPr lang="en-US" dirty="0"/>
              <a:t>, </a:t>
            </a:r>
            <a:r>
              <a:rPr lang="bg-BG" dirty="0"/>
              <a:t>за да не се отреже важна информация.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bg-BG" dirty="0"/>
              <a:t>Съхраняване на подходящи метаданни за всяка подсекция</a:t>
            </a:r>
            <a:r>
              <a:rPr lang="en-US" dirty="0"/>
              <a:t>.</a:t>
            </a:r>
            <a:endParaRPr lang="bg-BG" dirty="0"/>
          </a:p>
        </p:txBody>
      </p:sp>
      <p:sp>
        <p:nvSpPr>
          <p:cNvPr id="7" name="Rectangle 6"/>
          <p:cNvSpPr/>
          <p:nvPr/>
        </p:nvSpPr>
        <p:spPr>
          <a:xfrm>
            <a:off x="7711717" y="1619119"/>
            <a:ext cx="4250128" cy="386728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bg-BG"/>
          </a:p>
        </p:txBody>
      </p:sp>
    </p:spTree>
    <p:extLst>
      <p:ext uri="{BB962C8B-B14F-4D97-AF65-F5344CB8AC3E}">
        <p14:creationId xmlns:p14="http://schemas.microsoft.com/office/powerpoint/2010/main" val="2366673541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Embeddings</a:t>
            </a:r>
            <a:r>
              <a:rPr lang="bg-BG" dirty="0"/>
              <a:t> и извличане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7084724" cy="3777622"/>
          </a:xfrm>
        </p:spPr>
        <p:txBody>
          <a:bodyPr/>
          <a:lstStyle/>
          <a:p>
            <a:r>
              <a:rPr lang="bg-BG" dirty="0"/>
              <a:t>Търсене по семантиката на думите вместо по тяхното</a:t>
            </a:r>
            <a:r>
              <a:rPr lang="en-US" dirty="0"/>
              <a:t> </a:t>
            </a:r>
            <a:r>
              <a:rPr lang="bg-BG" dirty="0"/>
              <a:t>слово</a:t>
            </a:r>
          </a:p>
          <a:p>
            <a:r>
              <a:rPr lang="bg-BG" dirty="0"/>
              <a:t>Сравнение по косинусова близост</a:t>
            </a:r>
            <a:r>
              <a:rPr lang="en-US" dirty="0"/>
              <a:t> </a:t>
            </a:r>
            <a:r>
              <a:rPr lang="bg-BG" dirty="0"/>
              <a:t>с 384-мерни вектори</a:t>
            </a:r>
          </a:p>
          <a:p>
            <a:r>
              <a:rPr lang="bg-BG" dirty="0"/>
              <a:t>Връзка между мета данните и вектор данните</a:t>
            </a:r>
            <a:endParaRPr lang="en-US" dirty="0"/>
          </a:p>
          <a:p>
            <a:r>
              <a:rPr lang="bg-BG" dirty="0"/>
              <a:t>Избраният модел е достатъчно малък за </a:t>
            </a:r>
            <a:r>
              <a:rPr lang="en-US" dirty="0"/>
              <a:t>Nearest </a:t>
            </a:r>
            <a:r>
              <a:rPr lang="en-US" dirty="0" err="1"/>
              <a:t>Neighbour</a:t>
            </a:r>
            <a:r>
              <a:rPr lang="en-US" dirty="0"/>
              <a:t> (</a:t>
            </a:r>
            <a:r>
              <a:rPr lang="en-US" dirty="0" err="1"/>
              <a:t>IndexFlatIP</a:t>
            </a:r>
            <a:r>
              <a:rPr lang="en-US" dirty="0"/>
              <a:t>) </a:t>
            </a:r>
            <a:r>
              <a:rPr lang="bg-BG" dirty="0"/>
              <a:t>вместо </a:t>
            </a:r>
            <a:r>
              <a:rPr lang="en-US" dirty="0"/>
              <a:t>Approximate Nearest </a:t>
            </a:r>
            <a:r>
              <a:rPr lang="en-US" dirty="0" err="1"/>
              <a:t>Neighbour</a:t>
            </a:r>
            <a:r>
              <a:rPr lang="en-US" dirty="0"/>
              <a:t> (IVF, HNSW)</a:t>
            </a:r>
          </a:p>
        </p:txBody>
      </p:sp>
    </p:spTree>
    <p:extLst>
      <p:ext uri="{BB962C8B-B14F-4D97-AF65-F5344CB8AC3E}">
        <p14:creationId xmlns:p14="http://schemas.microsoft.com/office/powerpoint/2010/main" val="3382472484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Генериране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89212" y="2133600"/>
            <a:ext cx="4175270" cy="3777622"/>
          </a:xfrm>
        </p:spPr>
        <p:txBody>
          <a:bodyPr/>
          <a:lstStyle/>
          <a:p>
            <a:r>
              <a:rPr lang="ru-RU" dirty="0"/>
              <a:t>top-k 10 - за по-бързо генериране и взимане само на най-релевантното</a:t>
            </a:r>
          </a:p>
          <a:p>
            <a:r>
              <a:rPr lang="ru-RU" dirty="0"/>
              <a:t>изрази за спиране</a:t>
            </a:r>
            <a:r>
              <a:rPr lang="en-US" dirty="0"/>
              <a:t> - </a:t>
            </a:r>
            <a:r>
              <a:rPr lang="ru-RU" dirty="0"/>
              <a:t>в случай на по-слаб модел</a:t>
            </a:r>
            <a:endParaRPr lang="bg-BG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47F580F-FB78-1CA4-F65F-5A47984196A9}"/>
              </a:ext>
            </a:extLst>
          </p:cNvPr>
          <p:cNvSpPr/>
          <p:nvPr/>
        </p:nvSpPr>
        <p:spPr>
          <a:xfrm>
            <a:off x="7711717" y="1619120"/>
            <a:ext cx="4250128" cy="385689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bg-BG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A111ADC2-9299-BAF5-E939-9CCB6CF60796}"/>
              </a:ext>
            </a:extLst>
          </p:cNvPr>
          <p:cNvSpPr txBox="1">
            <a:spLocks/>
          </p:cNvSpPr>
          <p:nvPr/>
        </p:nvSpPr>
        <p:spPr>
          <a:xfrm>
            <a:off x="7711717" y="1264555"/>
            <a:ext cx="4250128" cy="464666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Font typeface="Wingdings 3" charset="2"/>
              <a:buNone/>
            </a:pPr>
            <a:r>
              <a:rPr lang="ru-RU" dirty="0"/>
              <a:t>Примерни </a:t>
            </a:r>
            <a:r>
              <a:rPr lang="bg-BG" dirty="0"/>
              <a:t>отговори</a:t>
            </a:r>
            <a:r>
              <a:rPr lang="en-US" dirty="0"/>
              <a:t>:</a:t>
            </a:r>
            <a:endParaRPr lang="bg-BG" dirty="0"/>
          </a:p>
          <a:p>
            <a:pPr marL="0" indent="0">
              <a:buFont typeface="Wingdings 3" charset="2"/>
              <a:buNone/>
            </a:pPr>
            <a:r>
              <a:rPr lang="ru-RU" dirty="0"/>
              <a:t>При остър пристъп на главоболие трябва да се използват лекарства за бързо облекчаване на симптомите, като например инхалатор за бронходилатация (Алвеско) [ID: 17734]</a:t>
            </a:r>
          </a:p>
          <a:p>
            <a:pPr marL="0" indent="0">
              <a:buFont typeface="Wingdings 3" charset="2"/>
              <a:buNone/>
            </a:pPr>
            <a:endParaRPr lang="ru-RU" dirty="0"/>
          </a:p>
          <a:p>
            <a:pPr marL="0" indent="0">
              <a:buFont typeface="Wingdings 3" charset="2"/>
              <a:buNone/>
            </a:pPr>
            <a:r>
              <a:rPr lang="ru-RU" dirty="0"/>
              <a:t>Бримонидив тартарат и тимолол са съдържат в капките за очи, които могат да бъдат използвани при свръхактивен пикочен мехур с изпускане на урина [ID: 3122]</a:t>
            </a:r>
          </a:p>
        </p:txBody>
      </p:sp>
    </p:spTree>
    <p:extLst>
      <p:ext uri="{BB962C8B-B14F-4D97-AF65-F5344CB8AC3E}">
        <p14:creationId xmlns:p14="http://schemas.microsoft.com/office/powerpoint/2010/main" val="2558561189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1250">
        <p15:prstTrans prst="pageCurlDouble"/>
      </p:transition>
    </mc:Choice>
    <mc:Fallback xmlns="">
      <p:transition spd="slow">
        <p:fade/>
      </p:transition>
    </mc:Fallback>
  </mc:AlternateContent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568431" y="580689"/>
            <a:ext cx="9297954" cy="862445"/>
          </a:xfrm>
        </p:spPr>
        <p:txBody>
          <a:bodyPr/>
          <a:lstStyle/>
          <a:p>
            <a:r>
              <a:rPr lang="bg-BG" dirty="0"/>
              <a:t>Използвани технологии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87087830"/>
              </p:ext>
            </p:extLst>
          </p:nvPr>
        </p:nvGraphicFramePr>
        <p:xfrm>
          <a:off x="2132013" y="1443134"/>
          <a:ext cx="8915400" cy="420899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2705">
                  <a:extLst>
                    <a:ext uri="{9D8B030D-6E8A-4147-A177-3AD203B41FA5}">
                      <a16:colId xmlns:a16="http://schemas.microsoft.com/office/drawing/2014/main" val="948734275"/>
                    </a:ext>
                  </a:extLst>
                </a:gridCol>
                <a:gridCol w="6652695">
                  <a:extLst>
                    <a:ext uri="{9D8B030D-6E8A-4147-A177-3AD203B41FA5}">
                      <a16:colId xmlns:a16="http://schemas.microsoft.com/office/drawing/2014/main" val="162893976"/>
                    </a:ext>
                  </a:extLst>
                </a:gridCol>
              </a:tblGrid>
              <a:tr h="658919">
                <a:tc>
                  <a:txBody>
                    <a:bodyPr/>
                    <a:lstStyle/>
                    <a:p>
                      <a:r>
                        <a:rPr lang="bg-BG" dirty="0"/>
                        <a:t>Технология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bg-BG" dirty="0"/>
                        <a:t>Роля</a:t>
                      </a:r>
                      <a:r>
                        <a:rPr lang="bg-BG" baseline="0" dirty="0"/>
                        <a:t> в проекта</a:t>
                      </a:r>
                      <a:endParaRPr lang="bg-B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92131504"/>
                  </a:ext>
                </a:extLst>
              </a:tr>
              <a:tr h="658919">
                <a:tc>
                  <a:txBody>
                    <a:bodyPr/>
                    <a:lstStyle/>
                    <a:p>
                      <a:r>
                        <a:rPr lang="en-US" dirty="0"/>
                        <a:t>Python</a:t>
                      </a:r>
                      <a:endParaRPr lang="bg-B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err="1"/>
                        <a:t>Основен</a:t>
                      </a:r>
                      <a:r>
                        <a:rPr lang="ru-RU" dirty="0"/>
                        <a:t> </a:t>
                      </a:r>
                      <a:r>
                        <a:rPr lang="ru-RU" dirty="0" err="1"/>
                        <a:t>език</a:t>
                      </a:r>
                      <a:r>
                        <a:rPr lang="ru-RU" dirty="0"/>
                        <a:t> за обработка на </a:t>
                      </a:r>
                      <a:r>
                        <a:rPr lang="ru-RU" dirty="0" err="1"/>
                        <a:t>данните</a:t>
                      </a:r>
                      <a:r>
                        <a:rPr lang="ru-RU" dirty="0"/>
                        <a:t>, </a:t>
                      </a:r>
                      <a:r>
                        <a:rPr lang="ru-RU" dirty="0" err="1"/>
                        <a:t>изграждане</a:t>
                      </a:r>
                      <a:r>
                        <a:rPr lang="ru-RU" dirty="0"/>
                        <a:t> на RAG </a:t>
                      </a:r>
                      <a:r>
                        <a:rPr lang="ru-RU" dirty="0" err="1"/>
                        <a:t>pipeline</a:t>
                      </a:r>
                      <a:r>
                        <a:rPr lang="ru-RU" dirty="0"/>
                        <a:t> и интеграция на </a:t>
                      </a:r>
                      <a:r>
                        <a:rPr lang="ru-RU" dirty="0" err="1"/>
                        <a:t>всички</a:t>
                      </a:r>
                      <a:r>
                        <a:rPr lang="ru-RU" dirty="0"/>
                        <a:t> </a:t>
                      </a:r>
                      <a:r>
                        <a:rPr lang="ru-RU" dirty="0" err="1"/>
                        <a:t>компоненти</a:t>
                      </a:r>
                      <a:r>
                        <a:rPr lang="ru-RU" dirty="0"/>
                        <a:t>.</a:t>
                      </a:r>
                      <a:endParaRPr lang="bg-B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65250084"/>
                  </a:ext>
                </a:extLst>
              </a:tr>
              <a:tr h="658919">
                <a:tc>
                  <a:txBody>
                    <a:bodyPr/>
                    <a:lstStyle/>
                    <a:p>
                      <a:r>
                        <a:rPr lang="en-US" dirty="0"/>
                        <a:t>gemma3:4b</a:t>
                      </a:r>
                      <a:endParaRPr lang="bg-B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err="1"/>
                        <a:t>Генерира</a:t>
                      </a:r>
                      <a:r>
                        <a:rPr lang="ru-RU" dirty="0"/>
                        <a:t> </a:t>
                      </a:r>
                      <a:r>
                        <a:rPr lang="ru-RU" dirty="0" err="1"/>
                        <a:t>естествени</a:t>
                      </a:r>
                      <a:r>
                        <a:rPr lang="ru-RU" dirty="0"/>
                        <a:t> отговори на </a:t>
                      </a:r>
                      <a:r>
                        <a:rPr lang="ru-RU" dirty="0" err="1"/>
                        <a:t>български</a:t>
                      </a:r>
                      <a:r>
                        <a:rPr lang="ru-RU" dirty="0"/>
                        <a:t> </a:t>
                      </a:r>
                      <a:r>
                        <a:rPr lang="ru-RU" dirty="0" err="1"/>
                        <a:t>език</a:t>
                      </a:r>
                      <a:r>
                        <a:rPr lang="ru-RU" dirty="0"/>
                        <a:t> </a:t>
                      </a:r>
                      <a:r>
                        <a:rPr lang="ru-RU" dirty="0" err="1"/>
                        <a:t>въз</a:t>
                      </a:r>
                      <a:r>
                        <a:rPr lang="ru-RU" dirty="0"/>
                        <a:t> основа на извлечения контекст.</a:t>
                      </a:r>
                      <a:endParaRPr lang="bg-B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74519870"/>
                  </a:ext>
                </a:extLst>
              </a:tr>
              <a:tr h="658919"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 err="1"/>
                        <a:t>RapidFuzz</a:t>
                      </a:r>
                      <a:endParaRPr lang="bg-BG" dirty="0"/>
                    </a:p>
                    <a:p>
                      <a:endParaRPr lang="bg-B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4572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dirty="0" err="1"/>
                        <a:t>Използван</a:t>
                      </a:r>
                      <a:r>
                        <a:rPr lang="ru-RU" dirty="0"/>
                        <a:t> за </a:t>
                      </a:r>
                      <a:r>
                        <a:rPr lang="ru-RU" dirty="0" err="1"/>
                        <a:t>fuzzy</a:t>
                      </a:r>
                      <a:r>
                        <a:rPr lang="ru-RU" dirty="0"/>
                        <a:t> </a:t>
                      </a:r>
                      <a:r>
                        <a:rPr lang="ru-RU" dirty="0" err="1"/>
                        <a:t>matching</a:t>
                      </a:r>
                      <a:r>
                        <a:rPr lang="ru-RU" dirty="0"/>
                        <a:t> на </a:t>
                      </a:r>
                      <a:r>
                        <a:rPr lang="ru-RU" dirty="0" err="1"/>
                        <a:t>заглавията</a:t>
                      </a:r>
                      <a:r>
                        <a:rPr lang="ru-RU" dirty="0"/>
                        <a:t> на </a:t>
                      </a:r>
                      <a:r>
                        <a:rPr lang="ru-RU" dirty="0" err="1"/>
                        <a:t>секциите</a:t>
                      </a:r>
                      <a:r>
                        <a:rPr lang="ru-RU" dirty="0"/>
                        <a:t> при грешки от </a:t>
                      </a:r>
                      <a:r>
                        <a:rPr lang="ru-RU" dirty="0" err="1"/>
                        <a:t>извличането</a:t>
                      </a:r>
                      <a:r>
                        <a:rPr lang="ru-RU" dirty="0"/>
                        <a:t> на текста от PDF.</a:t>
                      </a:r>
                      <a:endParaRPr lang="bg-BG" dirty="0"/>
                    </a:p>
                    <a:p>
                      <a:endParaRPr lang="bg-B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9629430"/>
                  </a:ext>
                </a:extLst>
              </a:tr>
              <a:tr h="658919">
                <a:tc>
                  <a:txBody>
                    <a:bodyPr/>
                    <a:lstStyle/>
                    <a:p>
                      <a:r>
                        <a:rPr lang="en-US" dirty="0"/>
                        <a:t>FAISS</a:t>
                      </a:r>
                      <a:endParaRPr lang="bg-B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bg-BG" dirty="0"/>
                        <a:t>Индексиране и бързо семантично търсене на векторни </a:t>
                      </a:r>
                      <a:r>
                        <a:rPr lang="en-US" dirty="0" err="1"/>
                        <a:t>embeddings</a:t>
                      </a:r>
                      <a:r>
                        <a:rPr lang="bg-BG" dirty="0"/>
                        <a:t>.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583457024"/>
                  </a:ext>
                </a:extLst>
              </a:tr>
              <a:tr h="658919">
                <a:tc>
                  <a:txBody>
                    <a:bodyPr/>
                    <a:lstStyle/>
                    <a:p>
                      <a:r>
                        <a:rPr lang="en-US" dirty="0" err="1"/>
                        <a:t>BeautifulSoup</a:t>
                      </a:r>
                      <a:endParaRPr lang="bg-B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bg-BG" dirty="0"/>
                        <a:t>Извличане на </a:t>
                      </a:r>
                      <a:r>
                        <a:rPr lang="en-US" dirty="0"/>
                        <a:t>pdf </a:t>
                      </a:r>
                      <a:r>
                        <a:rPr lang="bg-BG" dirty="0"/>
                        <a:t>документи от сайт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433688449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332858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250">
        <p14:switch dir="r"/>
      </p:transition>
    </mc:Choice>
    <mc:Fallback xmlns="">
      <p:transition spd="slow">
        <p:fade/>
      </p:transition>
    </mc:Fallback>
  </mc:AlternateContent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Сравнение на подходи</a:t>
            </a:r>
          </a:p>
        </p:txBody>
      </p:sp>
      <p:graphicFrame>
        <p:nvGraphicFramePr>
          <p:cNvPr id="4" name="Content Placeholder 3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750573961"/>
              </p:ext>
            </p:extLst>
          </p:nvPr>
        </p:nvGraphicFramePr>
        <p:xfrm>
          <a:off x="1670181" y="1334278"/>
          <a:ext cx="9638520" cy="478719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12840">
                  <a:extLst>
                    <a:ext uri="{9D8B030D-6E8A-4147-A177-3AD203B41FA5}">
                      <a16:colId xmlns:a16="http://schemas.microsoft.com/office/drawing/2014/main" val="583244453"/>
                    </a:ext>
                  </a:extLst>
                </a:gridCol>
                <a:gridCol w="3212840">
                  <a:extLst>
                    <a:ext uri="{9D8B030D-6E8A-4147-A177-3AD203B41FA5}">
                      <a16:colId xmlns:a16="http://schemas.microsoft.com/office/drawing/2014/main" val="559079376"/>
                    </a:ext>
                  </a:extLst>
                </a:gridCol>
                <a:gridCol w="3212840">
                  <a:extLst>
                    <a:ext uri="{9D8B030D-6E8A-4147-A177-3AD203B41FA5}">
                      <a16:colId xmlns:a16="http://schemas.microsoft.com/office/drawing/2014/main" val="4213334542"/>
                    </a:ext>
                  </a:extLst>
                </a:gridCol>
              </a:tblGrid>
              <a:tr h="950031">
                <a:tc>
                  <a:txBody>
                    <a:bodyPr/>
                    <a:lstStyle/>
                    <a:p>
                      <a:r>
                        <a:rPr lang="bg-BG" dirty="0"/>
                        <a:t>Компонент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bg-BG" dirty="0"/>
                        <a:t>Стратегия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bg-BG" dirty="0"/>
                        <a:t>Резултат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1608381"/>
                  </a:ext>
                </a:extLst>
              </a:tr>
              <a:tr h="1094819">
                <a:tc>
                  <a:txBody>
                    <a:bodyPr/>
                    <a:lstStyle/>
                    <a:p>
                      <a:r>
                        <a:rPr lang="bg-BG" dirty="0"/>
                        <a:t>Разделяне</a:t>
                      </a:r>
                      <a:r>
                        <a:rPr lang="bg-BG" baseline="0" dirty="0"/>
                        <a:t> на текста</a:t>
                      </a:r>
                      <a:endParaRPr lang="bg-B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bg-BG" dirty="0"/>
                        <a:t>Разделяне</a:t>
                      </a:r>
                      <a:r>
                        <a:rPr lang="bg-BG" baseline="0" dirty="0"/>
                        <a:t> на документите само по секции</a:t>
                      </a:r>
                      <a:endParaRPr lang="bg-B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err="1"/>
                        <a:t>По-голяма</a:t>
                      </a:r>
                      <a:r>
                        <a:rPr lang="ru-RU" dirty="0"/>
                        <a:t> </a:t>
                      </a:r>
                      <a:r>
                        <a:rPr lang="ru-RU" dirty="0" err="1"/>
                        <a:t>вероятност</a:t>
                      </a:r>
                      <a:r>
                        <a:rPr lang="ru-RU" dirty="0"/>
                        <a:t> в </a:t>
                      </a:r>
                      <a:r>
                        <a:rPr lang="ru-RU" dirty="0" err="1"/>
                        <a:t>chunk</a:t>
                      </a:r>
                      <a:r>
                        <a:rPr lang="ru-RU" dirty="0"/>
                        <a:t>-а да </a:t>
                      </a:r>
                      <a:r>
                        <a:rPr lang="ru-RU" dirty="0" err="1"/>
                        <a:t>има</a:t>
                      </a:r>
                      <a:r>
                        <a:rPr lang="ru-RU" dirty="0"/>
                        <a:t> </a:t>
                      </a:r>
                      <a:r>
                        <a:rPr lang="ru-RU" dirty="0" err="1"/>
                        <a:t>смесена</a:t>
                      </a:r>
                      <a:r>
                        <a:rPr lang="ru-RU" dirty="0"/>
                        <a:t> и частично </a:t>
                      </a:r>
                      <a:r>
                        <a:rPr lang="ru-RU" dirty="0" err="1"/>
                        <a:t>нерелевантна</a:t>
                      </a:r>
                      <a:r>
                        <a:rPr lang="ru-RU" dirty="0"/>
                        <a:t> информация</a:t>
                      </a:r>
                      <a:endParaRPr lang="bg-B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53202445"/>
                  </a:ext>
                </a:extLst>
              </a:tr>
              <a:tr h="684857">
                <a:tc>
                  <a:txBody>
                    <a:bodyPr/>
                    <a:lstStyle/>
                    <a:p>
                      <a:r>
                        <a:rPr lang="bg-BG" dirty="0"/>
                        <a:t>Разделяне на текста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bg-BG" dirty="0"/>
                        <a:t>Разделяне на секциите на подсекции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err="1"/>
                        <a:t>По-прецизно</a:t>
                      </a:r>
                      <a:r>
                        <a:rPr lang="ru-RU" dirty="0"/>
                        <a:t> </a:t>
                      </a:r>
                      <a:r>
                        <a:rPr lang="ru-RU" dirty="0" err="1"/>
                        <a:t>извличане</a:t>
                      </a:r>
                      <a:r>
                        <a:rPr lang="ru-RU" dirty="0"/>
                        <a:t> на </a:t>
                      </a:r>
                      <a:r>
                        <a:rPr lang="ru-RU" dirty="0" err="1"/>
                        <a:t>релевантни</a:t>
                      </a:r>
                      <a:r>
                        <a:rPr lang="ru-RU" dirty="0"/>
                        <a:t> </a:t>
                      </a:r>
                      <a:r>
                        <a:rPr lang="ru-RU" dirty="0" err="1"/>
                        <a:t>пасажи</a:t>
                      </a:r>
                      <a:endParaRPr lang="bg-B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95144959"/>
                  </a:ext>
                </a:extLst>
              </a:tr>
              <a:tr h="1013559">
                <a:tc>
                  <a:txBody>
                    <a:bodyPr/>
                    <a:lstStyle/>
                    <a:p>
                      <a:r>
                        <a:rPr lang="bg-BG" dirty="0"/>
                        <a:t>Генеративен</a:t>
                      </a:r>
                      <a:r>
                        <a:rPr lang="bg-BG" baseline="0" dirty="0"/>
                        <a:t> модел</a:t>
                      </a:r>
                      <a:endParaRPr lang="bg-B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Llama3 (1B</a:t>
                      </a:r>
                      <a:r>
                        <a:rPr lang="en-US" baseline="0" dirty="0"/>
                        <a:t> </a:t>
                      </a:r>
                      <a:r>
                        <a:rPr lang="bg-BG" baseline="0" dirty="0" err="1"/>
                        <a:t>парам</a:t>
                      </a:r>
                      <a:r>
                        <a:rPr lang="bg-BG" baseline="0" dirty="0"/>
                        <a:t>.</a:t>
                      </a:r>
                      <a:r>
                        <a:rPr lang="en-US" dirty="0"/>
                        <a:t>)</a:t>
                      </a:r>
                      <a:endParaRPr lang="bg-B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err="1"/>
                        <a:t>По-слабо</a:t>
                      </a:r>
                      <a:r>
                        <a:rPr lang="ru-RU" dirty="0"/>
                        <a:t> </a:t>
                      </a:r>
                      <a:r>
                        <a:rPr lang="ru-RU" dirty="0" err="1"/>
                        <a:t>следване</a:t>
                      </a:r>
                      <a:r>
                        <a:rPr lang="ru-RU" dirty="0"/>
                        <a:t> на инструкции и </a:t>
                      </a:r>
                      <a:r>
                        <a:rPr lang="ru-RU" dirty="0" err="1"/>
                        <a:t>по-ниско</a:t>
                      </a:r>
                      <a:r>
                        <a:rPr lang="ru-RU" dirty="0"/>
                        <a:t> качество на </a:t>
                      </a:r>
                      <a:r>
                        <a:rPr lang="ru-RU" dirty="0" err="1"/>
                        <a:t>цитирането</a:t>
                      </a:r>
                      <a:endParaRPr lang="bg-B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0364636"/>
                  </a:ext>
                </a:extLst>
              </a:tr>
              <a:tr h="950031">
                <a:tc>
                  <a:txBody>
                    <a:bodyPr/>
                    <a:lstStyle/>
                    <a:p>
                      <a:r>
                        <a:rPr lang="bg-BG" dirty="0"/>
                        <a:t>Генеративен модел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Gemma3</a:t>
                      </a:r>
                      <a:r>
                        <a:rPr lang="en-US" baseline="0" dirty="0"/>
                        <a:t> (4B </a:t>
                      </a:r>
                      <a:r>
                        <a:rPr lang="bg-BG" baseline="0" dirty="0" err="1"/>
                        <a:t>парам</a:t>
                      </a:r>
                      <a:r>
                        <a:rPr lang="bg-BG" baseline="0" dirty="0"/>
                        <a:t>.</a:t>
                      </a:r>
                      <a:r>
                        <a:rPr lang="en-US" baseline="0" dirty="0"/>
                        <a:t>)</a:t>
                      </a:r>
                      <a:endParaRPr lang="bg-BG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dirty="0" err="1"/>
                        <a:t>По-добро</a:t>
                      </a:r>
                      <a:r>
                        <a:rPr lang="ru-RU" dirty="0"/>
                        <a:t> </a:t>
                      </a:r>
                      <a:r>
                        <a:rPr lang="ru-RU" dirty="0" err="1"/>
                        <a:t>следване</a:t>
                      </a:r>
                      <a:r>
                        <a:rPr lang="ru-RU" dirty="0"/>
                        <a:t> на инструкции и </a:t>
                      </a:r>
                      <a:r>
                        <a:rPr lang="ru-RU" dirty="0" err="1"/>
                        <a:t>по-добро</a:t>
                      </a:r>
                      <a:r>
                        <a:rPr lang="ru-RU" baseline="0" dirty="0"/>
                        <a:t> </a:t>
                      </a:r>
                      <a:r>
                        <a:rPr lang="ru-RU" dirty="0" err="1"/>
                        <a:t>използване</a:t>
                      </a:r>
                      <a:r>
                        <a:rPr lang="ru-RU" dirty="0"/>
                        <a:t> на контекста</a:t>
                      </a:r>
                      <a:endParaRPr lang="bg-BG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5766636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498822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300">
        <p14:pan dir="u"/>
      </p:transition>
    </mc:Choice>
    <mc:Fallback xmlns="">
      <p:transition spd="slow">
        <p:fade/>
      </p:transition>
    </mc:Fallback>
  </mc:AlternateContent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bg-BG" dirty="0"/>
              <a:t>Недостатъци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592925" y="1564710"/>
            <a:ext cx="8915400" cy="1562954"/>
          </a:xfrm>
        </p:spPr>
        <p:txBody>
          <a:bodyPr/>
          <a:lstStyle/>
          <a:p>
            <a:pPr>
              <a:buFont typeface="Wingdings" panose="05000000000000000000" pitchFamily="2" charset="2"/>
              <a:buChar char="Ø"/>
            </a:pPr>
            <a:r>
              <a:rPr lang="ru-RU" dirty="0" err="1"/>
              <a:t>Някои</a:t>
            </a:r>
            <a:r>
              <a:rPr lang="ru-RU" dirty="0"/>
              <a:t> PDF </a:t>
            </a:r>
            <a:r>
              <a:rPr lang="ru-RU" dirty="0" err="1"/>
              <a:t>файлове</a:t>
            </a:r>
            <a:r>
              <a:rPr lang="ru-RU" dirty="0"/>
              <a:t> се </a:t>
            </a:r>
            <a:r>
              <a:rPr lang="ru-RU" dirty="0" err="1"/>
              <a:t>извличат</a:t>
            </a:r>
            <a:r>
              <a:rPr lang="ru-RU" dirty="0"/>
              <a:t> </a:t>
            </a:r>
            <a:r>
              <a:rPr lang="ru-RU" dirty="0" err="1"/>
              <a:t>лошо</a:t>
            </a:r>
            <a:r>
              <a:rPr lang="ru-RU" dirty="0"/>
              <a:t>.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ru-RU" dirty="0" err="1"/>
              <a:t>Системата</a:t>
            </a:r>
            <a:r>
              <a:rPr lang="ru-RU" dirty="0"/>
              <a:t> не </a:t>
            </a:r>
            <a:r>
              <a:rPr lang="ru-RU" dirty="0" err="1"/>
              <a:t>замества</a:t>
            </a:r>
            <a:r>
              <a:rPr lang="ru-RU" dirty="0"/>
              <a:t> </a:t>
            </a:r>
            <a:r>
              <a:rPr lang="ru-RU" dirty="0" err="1"/>
              <a:t>лекар</a:t>
            </a:r>
            <a:r>
              <a:rPr lang="ru-RU" dirty="0"/>
              <a:t>. 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ru-RU" dirty="0" err="1"/>
              <a:t>Възможни</a:t>
            </a:r>
            <a:r>
              <a:rPr lang="ru-RU" dirty="0"/>
              <a:t> </a:t>
            </a:r>
            <a:r>
              <a:rPr lang="ru-RU" dirty="0" err="1"/>
              <a:t>халюцинации</a:t>
            </a:r>
            <a:r>
              <a:rPr lang="ru-RU" dirty="0"/>
              <a:t> на LLM.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9A32A85-1314-86E2-82E0-08FA00ABA56C}"/>
              </a:ext>
            </a:extLst>
          </p:cNvPr>
          <p:cNvSpPr txBox="1">
            <a:spLocks/>
          </p:cNvSpPr>
          <p:nvPr/>
        </p:nvSpPr>
        <p:spPr>
          <a:xfrm>
            <a:off x="2592925" y="4412069"/>
            <a:ext cx="6617134" cy="176244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342900" indent="-3429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8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742950" indent="-28575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6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4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457200" rtl="0" eaLnBrk="1" latinLnBrk="0" hangingPunct="1"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Font typeface="Wingdings 3" charset="2"/>
              <a:buChar char=""/>
              <a:defRPr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buFont typeface="Wingdings" panose="05000000000000000000" pitchFamily="2" charset="2"/>
              <a:buChar char="Ø"/>
            </a:pPr>
            <a:r>
              <a:rPr lang="bg-BG" dirty="0"/>
              <a:t>Използване на модел</a:t>
            </a:r>
            <a:r>
              <a:rPr lang="en-US" dirty="0"/>
              <a:t> </a:t>
            </a:r>
            <a:r>
              <a:rPr lang="bg-BG" dirty="0"/>
              <a:t>за изчистване на данните (напр. през </a:t>
            </a:r>
            <a:r>
              <a:rPr lang="en-US" dirty="0"/>
              <a:t>OpenAI API</a:t>
            </a:r>
            <a:r>
              <a:rPr lang="bg-BG" dirty="0"/>
              <a:t> и/или агенти).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bg-BG" dirty="0"/>
              <a:t>Използване на генеративни модели</a:t>
            </a:r>
            <a:r>
              <a:rPr lang="en-US" dirty="0"/>
              <a:t>, </a:t>
            </a:r>
            <a:r>
              <a:rPr lang="bg-BG" dirty="0"/>
              <a:t>които са по-добре тренирани върху български език.</a:t>
            </a: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8125B268-5F6F-3F9D-5E68-D3544903A1C3}"/>
              </a:ext>
            </a:extLst>
          </p:cNvPr>
          <p:cNvSpPr txBox="1">
            <a:spLocks/>
          </p:cNvSpPr>
          <p:nvPr/>
        </p:nvSpPr>
        <p:spPr>
          <a:xfrm>
            <a:off x="2592925" y="3424407"/>
            <a:ext cx="8911687" cy="128089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algn="l" defTabSz="457200" rtl="0" eaLnBrk="1" latinLnBrk="0" hangingPunct="1">
              <a:spcBef>
                <a:spcPct val="0"/>
              </a:spcBef>
              <a:buNone/>
              <a:defRPr sz="3600" kern="1200">
                <a:solidFill>
                  <a:schemeClr val="tx1">
                    <a:lumMod val="85000"/>
                    <a:lumOff val="15000"/>
                  </a:schemeClr>
                </a:solidFill>
                <a:latin typeface="+mj-lt"/>
                <a:ea typeface="+mj-ea"/>
                <a:cs typeface="+mj-cs"/>
              </a:defRPr>
            </a:lvl1pPr>
            <a:lvl2pPr eaLnBrk="1" hangingPunct="1">
              <a:defRPr>
                <a:solidFill>
                  <a:schemeClr val="tx2"/>
                </a:solidFill>
              </a:defRPr>
            </a:lvl2pPr>
            <a:lvl3pPr eaLnBrk="1" hangingPunct="1">
              <a:defRPr>
                <a:solidFill>
                  <a:schemeClr val="tx2"/>
                </a:solidFill>
              </a:defRPr>
            </a:lvl3pPr>
            <a:lvl4pPr eaLnBrk="1" hangingPunct="1">
              <a:defRPr>
                <a:solidFill>
                  <a:schemeClr val="tx2"/>
                </a:solidFill>
              </a:defRPr>
            </a:lvl4pPr>
            <a:lvl5pPr eaLnBrk="1" hangingPunct="1">
              <a:defRPr>
                <a:solidFill>
                  <a:schemeClr val="tx2"/>
                </a:solidFill>
              </a:defRPr>
            </a:lvl5pPr>
            <a:lvl6pPr eaLnBrk="1" hangingPunct="1">
              <a:defRPr>
                <a:solidFill>
                  <a:schemeClr val="tx2"/>
                </a:solidFill>
              </a:defRPr>
            </a:lvl6pPr>
            <a:lvl7pPr eaLnBrk="1" hangingPunct="1">
              <a:defRPr>
                <a:solidFill>
                  <a:schemeClr val="tx2"/>
                </a:solidFill>
              </a:defRPr>
            </a:lvl7pPr>
            <a:lvl8pPr eaLnBrk="1" hangingPunct="1">
              <a:defRPr>
                <a:solidFill>
                  <a:schemeClr val="tx2"/>
                </a:solidFill>
              </a:defRPr>
            </a:lvl8pPr>
            <a:lvl9pPr eaLnBrk="1" hangingPunct="1">
              <a:defRPr>
                <a:solidFill>
                  <a:schemeClr val="tx2"/>
                </a:solidFill>
              </a:defRPr>
            </a:lvl9pPr>
          </a:lstStyle>
          <a:p>
            <a:r>
              <a:rPr lang="bg-BG" dirty="0"/>
              <a:t>Възможни подобрения</a:t>
            </a:r>
          </a:p>
        </p:txBody>
      </p:sp>
    </p:spTree>
    <p:extLst>
      <p:ext uri="{BB962C8B-B14F-4D97-AF65-F5344CB8AC3E}">
        <p14:creationId xmlns:p14="http://schemas.microsoft.com/office/powerpoint/2010/main" val="664100836"/>
      </p:ext>
    </p:extLst>
  </p:cSld>
  <p:clrMapOvr>
    <a:masterClrMapping/>
  </p:clrMapOvr>
  <p:transition spd="slow">
    <p:wipe dir="d"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bg-BG" dirty="0"/>
              <a:t>Демонстрация</a:t>
            </a:r>
          </a:p>
        </p:txBody>
      </p:sp>
    </p:spTree>
    <p:extLst>
      <p:ext uri="{BB962C8B-B14F-4D97-AF65-F5344CB8AC3E}">
        <p14:creationId xmlns:p14="http://schemas.microsoft.com/office/powerpoint/2010/main" val="41804396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1400">
        <p14:reveal/>
      </p:transition>
    </mc:Choice>
    <mc:Fallback xmlns="">
      <p:transition spd="slow">
        <p:fade/>
      </p:transition>
    </mc:Fallback>
  </mc:AlternateContent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bg-BG" dirty="0"/>
              <a:t>Благодарим за вниманието!</a:t>
            </a:r>
          </a:p>
        </p:txBody>
      </p:sp>
    </p:spTree>
    <p:extLst>
      <p:ext uri="{BB962C8B-B14F-4D97-AF65-F5344CB8AC3E}">
        <p14:creationId xmlns:p14="http://schemas.microsoft.com/office/powerpoint/2010/main" val="8171784"/>
      </p:ext>
    </p:extLst>
  </p:cSld>
  <p:clrMapOvr>
    <a:masterClrMapping/>
  </p:clrMapOvr>
  <mc:AlternateContent xmlns:mc="http://schemas.openxmlformats.org/markup-compatibility/2006" xmlns:p15="http://schemas.microsoft.com/office/powerpoint/2012/main">
    <mc:Choice Requires="p15">
      <p:transition xmlns:p14="http://schemas.microsoft.com/office/powerpoint/2010/main" spd="slow" p14:dur="4000">
        <p15:prstTrans prst="curtains"/>
      </p:transition>
    </mc:Choice>
    <mc:Fallback xmlns="">
      <p:transition spd="slow">
        <p:fade/>
      </p:transition>
    </mc:Fallback>
  </mc:AlternateContent>
</p:sld>
</file>

<file path=ppt/theme/theme1.xml><?xml version="1.0" encoding="utf-8"?>
<a:theme xmlns:a="http://schemas.openxmlformats.org/drawingml/2006/main" name="Wisp">
  <a:themeElements>
    <a:clrScheme name="Wisp">
      <a:dk1>
        <a:sysClr val="windowText" lastClr="000000"/>
      </a:dk1>
      <a:lt1>
        <a:sysClr val="window" lastClr="FFFFFF"/>
      </a:lt1>
      <a:dk2>
        <a:srgbClr val="766F54"/>
      </a:dk2>
      <a:lt2>
        <a:srgbClr val="E3EACF"/>
      </a:lt2>
      <a:accent1>
        <a:srgbClr val="A53010"/>
      </a:accent1>
      <a:accent2>
        <a:srgbClr val="DE7E18"/>
      </a:accent2>
      <a:accent3>
        <a:srgbClr val="9F8351"/>
      </a:accent3>
      <a:accent4>
        <a:srgbClr val="728653"/>
      </a:accent4>
      <a:accent5>
        <a:srgbClr val="92AA4C"/>
      </a:accent5>
      <a:accent6>
        <a:srgbClr val="6AAC91"/>
      </a:accent6>
      <a:hlink>
        <a:srgbClr val="FB4A18"/>
      </a:hlink>
      <a:folHlink>
        <a:srgbClr val="FB9318"/>
      </a:folHlink>
    </a:clrScheme>
    <a:fontScheme name="Wisp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Wisp">
      <a:fillStyleLst>
        <a:solidFill>
          <a:schemeClr val="phClr"/>
        </a:solidFill>
        <a:solidFill>
          <a:schemeClr val="phClr">
            <a:tint val="70000"/>
            <a:lumMod val="104000"/>
          </a:schemeClr>
        </a:solidFill>
        <a:gradFill rotWithShape="1">
          <a:gsLst>
            <a:gs pos="0">
              <a:schemeClr val="phClr">
                <a:tint val="96000"/>
                <a:lumMod val="104000"/>
              </a:schemeClr>
            </a:gs>
            <a:gs pos="100000">
              <a:schemeClr val="phClr">
                <a:shade val="98000"/>
                <a:lumMod val="9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shade val="90000"/>
            </a:schemeClr>
          </a:solidFill>
          <a:prstDash val="solid"/>
        </a:ln>
        <a:ln w="15875" cap="rnd" cmpd="sng" algn="ctr">
          <a:solidFill>
            <a:schemeClr val="phClr"/>
          </a:solidFill>
          <a:prstDash val="solid"/>
        </a:ln>
        <a:ln w="2222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25000"/>
              </a:srgbClr>
            </a:outerShdw>
          </a:effectLst>
        </a:effectStyle>
        <a:effectStyle>
          <a:effectLst>
            <a:outerShdw blurRad="50800" dist="38100" dir="5400000" rotWithShape="0">
              <a:srgbClr val="000000">
                <a:alpha val="60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0000"/>
                <a:satMod val="92000"/>
                <a:lumMod val="120000"/>
              </a:schemeClr>
            </a:gs>
            <a:gs pos="100000">
              <a:schemeClr val="phClr">
                <a:shade val="98000"/>
                <a:satMod val="120000"/>
                <a:lumMod val="98000"/>
              </a:schemeClr>
            </a:gs>
          </a:gsLst>
          <a:path path="circle">
            <a:fillToRect l="50000" t="50000" r="100000"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Wisp" id="{7CB32D59-10C0-40DD-B7BD-2E94284A981C}" vid="{24B1A44C-C006-48B2-A4D7-E5549B3D8CD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Wisp</Template>
  <TotalTime>296</TotalTime>
  <Words>665</Words>
  <Application>Microsoft Office PowerPoint</Application>
  <PresentationFormat>Widescreen</PresentationFormat>
  <Paragraphs>105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21" baseType="lpstr">
      <vt:lpstr>Arial</vt:lpstr>
      <vt:lpstr>Century Gothic</vt:lpstr>
      <vt:lpstr>Courier New</vt:lpstr>
      <vt:lpstr>Wingdings</vt:lpstr>
      <vt:lpstr>Wingdings 3</vt:lpstr>
      <vt:lpstr>Wisp</vt:lpstr>
      <vt:lpstr>RAG асистент за лекарства</vt:lpstr>
      <vt:lpstr>Задача и мотивация</vt:lpstr>
      <vt:lpstr>Предизвикателства</vt:lpstr>
      <vt:lpstr>Предизвикателства</vt:lpstr>
      <vt:lpstr>Общ преглед на решението</vt:lpstr>
      <vt:lpstr>Подготовка на данните</vt:lpstr>
      <vt:lpstr>Сегментиране по секции</vt:lpstr>
      <vt:lpstr>Chunking стратегия</vt:lpstr>
      <vt:lpstr>Embeddings и извличане</vt:lpstr>
      <vt:lpstr>Генериране</vt:lpstr>
      <vt:lpstr>Използвани технологии</vt:lpstr>
      <vt:lpstr>Сравнение на подходи</vt:lpstr>
      <vt:lpstr>Недостатъци</vt:lpstr>
      <vt:lpstr>Демонстрация</vt:lpstr>
      <vt:lpstr>Благодарим за вниманието!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RAG асистент за лекарства</dc:title>
  <dc:creator>User</dc:creator>
  <cp:lastModifiedBy>Stiliyan Kozhuharov</cp:lastModifiedBy>
  <cp:revision>56</cp:revision>
  <dcterms:created xsi:type="dcterms:W3CDTF">2026-06-08T08:02:54Z</dcterms:created>
  <dcterms:modified xsi:type="dcterms:W3CDTF">2026-06-11T19:36:35Z</dcterms:modified>
</cp:coreProperties>
</file>
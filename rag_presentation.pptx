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264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5006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232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233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883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561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69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3765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45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4224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112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727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5111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3387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59226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9531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09BD0-848F-4EBB-A109-7353F2339BC4}" type="datetimeFigureOut">
              <a:rPr lang="bg-BG" smtClean="0"/>
              <a:t>8.6.2026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FDBEF42-5970-42A1-BE87-02C9A91F59B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8357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da.bg/bg/%D1%80%D0%B5%D0%B3%D0%B8%D1%81%D1%82%D1%80%D0%B8/%D0%BB%D0%B8%D1%81%D1%82%D0%BE%D0%B2%D0%BA%D0%B8-%D0%B7%D0%B0-%D0%BF%D0%B0%D1%86%D0%B8%D0%B5%D0%BD%D1%82%D0%B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1476" y="1926772"/>
            <a:ext cx="10039739" cy="2262781"/>
          </a:xfrm>
        </p:spPr>
        <p:txBody>
          <a:bodyPr/>
          <a:lstStyle/>
          <a:p>
            <a:r>
              <a:rPr lang="en-US" dirty="0" smtClean="0"/>
              <a:t>RAG </a:t>
            </a:r>
            <a:r>
              <a:rPr lang="bg-BG" dirty="0" smtClean="0"/>
              <a:t>асистент за лекарства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1890" y="4282857"/>
            <a:ext cx="8915399" cy="1126283"/>
          </a:xfrm>
        </p:spPr>
        <p:txBody>
          <a:bodyPr/>
          <a:lstStyle/>
          <a:p>
            <a:r>
              <a:rPr lang="bg-BG" dirty="0" smtClean="0"/>
              <a:t>Стилиян Кожухаров</a:t>
            </a:r>
            <a:r>
              <a:rPr lang="en-US" dirty="0" smtClean="0"/>
              <a:t>, </a:t>
            </a:r>
            <a:r>
              <a:rPr lang="bg-BG" dirty="0" smtClean="0"/>
              <a:t>Илиян </a:t>
            </a:r>
            <a:r>
              <a:rPr lang="bg-BG" dirty="0" err="1" smtClean="0"/>
              <a:t>Свечев</a:t>
            </a:r>
            <a:r>
              <a:rPr lang="en-US" dirty="0" smtClean="0"/>
              <a:t>, </a:t>
            </a:r>
            <a:r>
              <a:rPr lang="bg-BG" dirty="0" smtClean="0"/>
              <a:t>Самуил Илиев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47238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Задача и мотивация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Проблем: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 err="1"/>
              <a:t>Листовките</a:t>
            </a:r>
            <a:r>
              <a:rPr lang="ru-RU" dirty="0"/>
              <a:t> на </a:t>
            </a:r>
            <a:r>
              <a:rPr lang="ru-RU" dirty="0" err="1"/>
              <a:t>лекарствата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дълги</a:t>
            </a:r>
            <a:r>
              <a:rPr lang="ru-RU" dirty="0"/>
              <a:t> и </a:t>
            </a:r>
            <a:r>
              <a:rPr lang="ru-RU" dirty="0" err="1"/>
              <a:t>трудни</a:t>
            </a:r>
            <a:r>
              <a:rPr lang="ru-RU" dirty="0"/>
              <a:t> за </a:t>
            </a:r>
            <a:r>
              <a:rPr lang="ru-RU" dirty="0" err="1"/>
              <a:t>търсене</a:t>
            </a:r>
            <a:r>
              <a:rPr lang="ru-RU" dirty="0"/>
              <a:t>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 err="1"/>
              <a:t>Потребителите</a:t>
            </a:r>
            <a:r>
              <a:rPr lang="ru-RU" dirty="0"/>
              <a:t> </a:t>
            </a:r>
            <a:r>
              <a:rPr lang="ru-RU" dirty="0" err="1"/>
              <a:t>често</a:t>
            </a:r>
            <a:r>
              <a:rPr lang="ru-RU" dirty="0"/>
              <a:t> </a:t>
            </a:r>
            <a:r>
              <a:rPr lang="ru-RU" dirty="0" err="1"/>
              <a:t>задават</a:t>
            </a:r>
            <a:r>
              <a:rPr lang="ru-RU" dirty="0"/>
              <a:t> </a:t>
            </a:r>
            <a:r>
              <a:rPr lang="ru-RU" dirty="0" err="1"/>
              <a:t>конкретни</a:t>
            </a:r>
            <a:r>
              <a:rPr lang="ru-RU" dirty="0"/>
              <a:t> </a:t>
            </a:r>
            <a:r>
              <a:rPr lang="ru-RU" dirty="0" err="1"/>
              <a:t>въпроси</a:t>
            </a:r>
            <a:r>
              <a:rPr lang="ru-RU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„</a:t>
            </a:r>
            <a:r>
              <a:rPr lang="ru-RU" dirty="0" err="1"/>
              <a:t>Мога</a:t>
            </a:r>
            <a:r>
              <a:rPr lang="ru-RU" dirty="0"/>
              <a:t> ли да приемам </a:t>
            </a:r>
            <a:r>
              <a:rPr lang="ru-RU" dirty="0" err="1"/>
              <a:t>лекарството</a:t>
            </a:r>
            <a:r>
              <a:rPr lang="ru-RU" dirty="0"/>
              <a:t> при </a:t>
            </a:r>
            <a:r>
              <a:rPr lang="ru-RU" dirty="0" err="1"/>
              <a:t>бременност</a:t>
            </a:r>
            <a:r>
              <a:rPr lang="ru-RU" dirty="0"/>
              <a:t>?“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„</a:t>
            </a:r>
            <a:r>
              <a:rPr lang="ru-RU" dirty="0" err="1"/>
              <a:t>Какви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нежеланите</a:t>
            </a:r>
            <a:r>
              <a:rPr lang="ru-RU" dirty="0"/>
              <a:t> реакции?“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„</a:t>
            </a:r>
            <a:r>
              <a:rPr lang="ru-RU" dirty="0" err="1"/>
              <a:t>Каква</a:t>
            </a:r>
            <a:r>
              <a:rPr lang="ru-RU" dirty="0"/>
              <a:t> е </a:t>
            </a:r>
            <a:r>
              <a:rPr lang="ru-RU" dirty="0" err="1"/>
              <a:t>дозировката</a:t>
            </a:r>
            <a:r>
              <a:rPr lang="ru-RU" dirty="0"/>
              <a:t>?“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Цел: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 err="1"/>
              <a:t>Създаване</a:t>
            </a:r>
            <a:r>
              <a:rPr lang="ru-RU" dirty="0"/>
              <a:t> на </a:t>
            </a:r>
            <a:r>
              <a:rPr lang="ru-RU" dirty="0" err="1"/>
              <a:t>български</a:t>
            </a:r>
            <a:r>
              <a:rPr lang="ru-RU" dirty="0"/>
              <a:t> RAG </a:t>
            </a:r>
            <a:r>
              <a:rPr lang="ru-RU" dirty="0" err="1"/>
              <a:t>асистент</a:t>
            </a:r>
            <a:r>
              <a:rPr lang="ru-RU" dirty="0"/>
              <a:t>,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отговаря</a:t>
            </a:r>
            <a:r>
              <a:rPr lang="ru-RU" dirty="0"/>
              <a:t> на </a:t>
            </a:r>
            <a:r>
              <a:rPr lang="ru-RU" dirty="0" err="1"/>
              <a:t>въпроси</a:t>
            </a:r>
            <a:r>
              <a:rPr lang="ru-RU" dirty="0"/>
              <a:t>, </a:t>
            </a:r>
            <a:r>
              <a:rPr lang="ru-RU" dirty="0" err="1"/>
              <a:t>използвайки</a:t>
            </a:r>
            <a:r>
              <a:rPr lang="ru-RU" dirty="0"/>
              <a:t> </a:t>
            </a:r>
            <a:r>
              <a:rPr lang="ru-RU" dirty="0" err="1"/>
              <a:t>официални</a:t>
            </a:r>
            <a:r>
              <a:rPr lang="ru-RU" dirty="0"/>
              <a:t> </a:t>
            </a:r>
            <a:r>
              <a:rPr lang="ru-RU" dirty="0" err="1"/>
              <a:t>лекарствени</a:t>
            </a:r>
            <a:r>
              <a:rPr lang="ru-RU" dirty="0"/>
              <a:t> листовки.</a:t>
            </a:r>
          </a:p>
        </p:txBody>
      </p:sp>
    </p:spTree>
    <p:extLst>
      <p:ext uri="{BB962C8B-B14F-4D97-AF65-F5344CB8AC3E}">
        <p14:creationId xmlns:p14="http://schemas.microsoft.com/office/powerpoint/2010/main" val="228074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Предизвикателства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 smtClean="0"/>
              <a:t>PDF </a:t>
            </a:r>
            <a:r>
              <a:rPr lang="ru-RU" dirty="0" err="1"/>
              <a:t>файлове</a:t>
            </a:r>
            <a:r>
              <a:rPr lang="ru-RU" dirty="0"/>
              <a:t> с различно качество.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Грешки при </a:t>
            </a:r>
            <a:r>
              <a:rPr lang="ru-RU" dirty="0" err="1"/>
              <a:t>извличане</a:t>
            </a:r>
            <a:r>
              <a:rPr lang="ru-RU" dirty="0"/>
              <a:t> на текст.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 smtClean="0"/>
              <a:t>Дълги</a:t>
            </a:r>
            <a:r>
              <a:rPr lang="ru-RU" dirty="0" smtClean="0"/>
              <a:t> </a:t>
            </a:r>
            <a:r>
              <a:rPr lang="ru-RU" dirty="0" err="1" smtClean="0"/>
              <a:t>документи</a:t>
            </a:r>
            <a:r>
              <a:rPr lang="ru-RU" dirty="0" smtClean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 smtClean="0"/>
              <a:t>Медицинска</a:t>
            </a:r>
            <a:r>
              <a:rPr lang="ru-RU" dirty="0" smtClean="0"/>
              <a:t> </a:t>
            </a:r>
            <a:r>
              <a:rPr lang="ru-RU" dirty="0"/>
              <a:t>терминология.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/>
              <a:t>Необходимост</a:t>
            </a:r>
            <a:r>
              <a:rPr lang="ru-RU" dirty="0"/>
              <a:t> от </a:t>
            </a:r>
            <a:r>
              <a:rPr lang="ru-RU" dirty="0" err="1"/>
              <a:t>надеждни</a:t>
            </a:r>
            <a:r>
              <a:rPr lang="ru-RU" dirty="0"/>
              <a:t> отговори. </a:t>
            </a:r>
          </a:p>
        </p:txBody>
      </p:sp>
    </p:spTree>
    <p:extLst>
      <p:ext uri="{BB962C8B-B14F-4D97-AF65-F5344CB8AC3E}">
        <p14:creationId xmlns:p14="http://schemas.microsoft.com/office/powerpoint/2010/main" val="150284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Предизвикателства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538" y="1466082"/>
            <a:ext cx="3992732" cy="576262"/>
          </a:xfrm>
        </p:spPr>
        <p:txBody>
          <a:bodyPr/>
          <a:lstStyle/>
          <a:p>
            <a:r>
              <a:rPr lang="en-US" dirty="0" smtClean="0"/>
              <a:t>PDF </a:t>
            </a:r>
            <a:r>
              <a:rPr lang="bg-BG" dirty="0" smtClean="0"/>
              <a:t>на листовка</a:t>
            </a:r>
            <a:endParaRPr lang="bg-BG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66" y="2042344"/>
            <a:ext cx="5505062" cy="4199835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25522" y="1467258"/>
            <a:ext cx="3999001" cy="576262"/>
          </a:xfrm>
        </p:spPr>
        <p:txBody>
          <a:bodyPr/>
          <a:lstStyle/>
          <a:p>
            <a:r>
              <a:rPr lang="bg-BG" dirty="0" smtClean="0"/>
              <a:t>След извличане</a:t>
            </a:r>
            <a:endParaRPr 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703" y="2042343"/>
            <a:ext cx="5187820" cy="4199836"/>
          </a:xfrm>
        </p:spPr>
      </p:pic>
      <p:sp>
        <p:nvSpPr>
          <p:cNvPr id="9" name="Right Arrow 8"/>
          <p:cNvSpPr/>
          <p:nvPr/>
        </p:nvSpPr>
        <p:spPr>
          <a:xfrm>
            <a:off x="5934270" y="3745710"/>
            <a:ext cx="802433" cy="634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Oval 9"/>
          <p:cNvSpPr/>
          <p:nvPr/>
        </p:nvSpPr>
        <p:spPr>
          <a:xfrm>
            <a:off x="3342694" y="3469398"/>
            <a:ext cx="2006081" cy="4478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Oval 10"/>
          <p:cNvSpPr/>
          <p:nvPr/>
        </p:nvSpPr>
        <p:spPr>
          <a:xfrm>
            <a:off x="9517224" y="3315442"/>
            <a:ext cx="1175658" cy="3079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5281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Общ преглед на решението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// TODO – </a:t>
            </a:r>
            <a:r>
              <a:rPr lang="bg-BG" dirty="0" smtClean="0"/>
              <a:t>диаграма със стъпките</a:t>
            </a:r>
            <a:r>
              <a:rPr lang="en-US" dirty="0" smtClean="0"/>
              <a:t> (</a:t>
            </a:r>
            <a:r>
              <a:rPr lang="bg-BG" dirty="0" smtClean="0"/>
              <a:t>ако на никой не му се занимава с диаграма може и само да ги изброим с </a:t>
            </a:r>
            <a:r>
              <a:rPr lang="en-US" dirty="0" smtClean="0"/>
              <a:t>bullet points): </a:t>
            </a:r>
            <a:r>
              <a:rPr lang="bg-BG" dirty="0" smtClean="0"/>
              <a:t>извличане</a:t>
            </a:r>
            <a:r>
              <a:rPr lang="en-US" dirty="0" smtClean="0"/>
              <a:t>, </a:t>
            </a:r>
            <a:r>
              <a:rPr lang="bg-BG" dirty="0" smtClean="0"/>
              <a:t>разделяне на секции</a:t>
            </a:r>
            <a:r>
              <a:rPr lang="en-US" dirty="0" smtClean="0"/>
              <a:t>, chunks, embedding, </a:t>
            </a:r>
            <a:r>
              <a:rPr lang="bg-BG" dirty="0" smtClean="0"/>
              <a:t>векторна </a:t>
            </a:r>
            <a:r>
              <a:rPr lang="bg-BG" dirty="0" err="1" smtClean="0"/>
              <a:t>дб</a:t>
            </a:r>
            <a:r>
              <a:rPr lang="en-US" dirty="0" smtClean="0"/>
              <a:t>, LLM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7511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Подготовка на данните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Източник на данни – </a:t>
            </a:r>
            <a:r>
              <a:rPr lang="bg-BG" dirty="0" smtClean="0">
                <a:hlinkClick r:id="rId2"/>
              </a:rPr>
              <a:t>листовки за пациента от ИАЛ</a:t>
            </a:r>
            <a:endParaRPr lang="en-US" dirty="0">
              <a:hlinkClick r:id="rId2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bg-BG" dirty="0" smtClean="0"/>
              <a:t>Формат </a:t>
            </a:r>
            <a:r>
              <a:rPr lang="en-US" dirty="0" smtClean="0"/>
              <a:t>PDF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smtClean="0"/>
              <a:t>Обработка: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 err="1" smtClean="0"/>
              <a:t>Конвертиране</a:t>
            </a:r>
            <a:r>
              <a:rPr lang="ru-RU" dirty="0" smtClean="0"/>
              <a:t> </a:t>
            </a:r>
            <a:r>
              <a:rPr lang="ru-RU" dirty="0"/>
              <a:t>в текст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Нормализация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 err="1"/>
              <a:t>Премахване</a:t>
            </a:r>
            <a:r>
              <a:rPr lang="ru-RU" dirty="0"/>
              <a:t> на шум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/>
              <a:t>Брой</a:t>
            </a:r>
            <a:r>
              <a:rPr lang="ru-RU" dirty="0" smtClean="0"/>
              <a:t>:</a:t>
            </a:r>
            <a:r>
              <a:rPr lang="en-US" dirty="0" smtClean="0"/>
              <a:t> // TODO: </a:t>
            </a:r>
            <a:r>
              <a:rPr lang="bg-BG" dirty="0" smtClean="0"/>
              <a:t>Когато решим с колко файла ще работим</a:t>
            </a:r>
            <a:r>
              <a:rPr lang="en-US" dirty="0" smtClean="0"/>
              <a:t>, </a:t>
            </a:r>
            <a:r>
              <a:rPr lang="bg-BG" dirty="0" smtClean="0"/>
              <a:t>попълнете</a:t>
            </a:r>
            <a:r>
              <a:rPr lang="en-US" dirty="0" smtClean="0"/>
              <a:t>:</a:t>
            </a:r>
            <a:endParaRPr lang="ru-RU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X</a:t>
            </a:r>
            <a:r>
              <a:rPr lang="ru-RU" dirty="0" smtClean="0"/>
              <a:t> </a:t>
            </a:r>
            <a:r>
              <a:rPr lang="ru-RU" dirty="0"/>
              <a:t>листовки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Y</a:t>
            </a:r>
            <a:r>
              <a:rPr lang="ru-RU" dirty="0" smtClean="0"/>
              <a:t> </a:t>
            </a:r>
            <a:r>
              <a:rPr lang="ru-RU" dirty="0"/>
              <a:t>MB текст</a:t>
            </a:r>
          </a:p>
          <a:p>
            <a:pPr>
              <a:buFont typeface="Wingdings" panose="05000000000000000000" pitchFamily="2" charset="2"/>
              <a:buChar char="Ø"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9371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Сегментиране по секции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73764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 smtClean="0"/>
              <a:t>Известен формат</a:t>
            </a:r>
            <a:r>
              <a:rPr lang="en-US" dirty="0" smtClean="0"/>
              <a:t> </a:t>
            </a:r>
            <a:r>
              <a:rPr lang="bg-BG" dirty="0" smtClean="0"/>
              <a:t>на всяка листовка</a:t>
            </a:r>
            <a:r>
              <a:rPr lang="en-US" dirty="0" smtClean="0"/>
              <a:t>: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1</a:t>
            </a:r>
            <a:r>
              <a:rPr lang="en-US" dirty="0" smtClean="0"/>
              <a:t>. </a:t>
            </a:r>
            <a:r>
              <a:rPr lang="ru-RU" dirty="0" err="1" smtClean="0"/>
              <a:t>Какво</a:t>
            </a:r>
            <a:r>
              <a:rPr lang="ru-RU" dirty="0" smtClean="0"/>
              <a:t> </a:t>
            </a:r>
            <a:r>
              <a:rPr lang="ru-RU" dirty="0" err="1"/>
              <a:t>представлява</a:t>
            </a:r>
            <a:r>
              <a:rPr lang="ru-RU" dirty="0"/>
              <a:t>...</a:t>
            </a:r>
            <a:br>
              <a:rPr lang="ru-RU" dirty="0"/>
            </a:br>
            <a:r>
              <a:rPr lang="ru-RU" dirty="0"/>
              <a:t>2. </a:t>
            </a:r>
            <a:r>
              <a:rPr lang="ru-RU" dirty="0" err="1"/>
              <a:t>Какво</a:t>
            </a:r>
            <a:r>
              <a:rPr lang="ru-RU" dirty="0"/>
              <a:t> </a:t>
            </a:r>
            <a:r>
              <a:rPr lang="ru-RU" dirty="0" err="1"/>
              <a:t>трябва</a:t>
            </a:r>
            <a:r>
              <a:rPr lang="ru-RU" dirty="0"/>
              <a:t> да знаете...</a:t>
            </a:r>
            <a:br>
              <a:rPr lang="ru-RU" dirty="0"/>
            </a:br>
            <a:r>
              <a:rPr lang="ru-RU" dirty="0"/>
              <a:t>3. Как се </a:t>
            </a:r>
            <a:r>
              <a:rPr lang="ru-RU" dirty="0" err="1"/>
              <a:t>прилага</a:t>
            </a:r>
            <a:r>
              <a:rPr lang="ru-RU" dirty="0"/>
              <a:t>...</a:t>
            </a:r>
            <a:br>
              <a:rPr lang="ru-RU" dirty="0"/>
            </a:br>
            <a:r>
              <a:rPr lang="ru-RU" dirty="0"/>
              <a:t>4. </a:t>
            </a:r>
            <a:r>
              <a:rPr lang="ru-RU" dirty="0" err="1"/>
              <a:t>Възможни</a:t>
            </a:r>
            <a:r>
              <a:rPr lang="ru-RU" dirty="0"/>
              <a:t> </a:t>
            </a:r>
            <a:r>
              <a:rPr lang="ru-RU" dirty="0" err="1"/>
              <a:t>нежелани</a:t>
            </a:r>
            <a:r>
              <a:rPr lang="ru-RU" dirty="0"/>
              <a:t> реакции...</a:t>
            </a:r>
            <a:br>
              <a:rPr lang="ru-RU" dirty="0"/>
            </a:br>
            <a:r>
              <a:rPr lang="ru-RU" dirty="0"/>
              <a:t>5. Как да </a:t>
            </a:r>
            <a:r>
              <a:rPr lang="ru-RU" dirty="0" err="1"/>
              <a:t>съхранявате</a:t>
            </a:r>
            <a:r>
              <a:rPr lang="ru-RU" dirty="0" smtClean="0"/>
              <a:t>...</a:t>
            </a:r>
          </a:p>
          <a:p>
            <a:pPr marL="0" indent="0">
              <a:buNone/>
            </a:pPr>
            <a:endParaRPr lang="ru-RU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 err="1" smtClean="0"/>
              <a:t>Използвани</a:t>
            </a:r>
            <a:r>
              <a:rPr lang="ru-RU" dirty="0" smtClean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известните</a:t>
            </a:r>
            <a:r>
              <a:rPr lang="ru-RU" dirty="0"/>
              <a:t> заглавия на </a:t>
            </a:r>
            <a:r>
              <a:rPr lang="bg-BG" dirty="0" smtClean="0"/>
              <a:t>секции на </a:t>
            </a:r>
            <a:r>
              <a:rPr lang="ru-RU" dirty="0" err="1" smtClean="0"/>
              <a:t>листовките</a:t>
            </a:r>
            <a:r>
              <a:rPr lang="ru-RU" dirty="0" smtClean="0"/>
              <a:t>.</a:t>
            </a:r>
            <a:endParaRPr lang="bg-BG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 err="1"/>
              <a:t>Използвано</a:t>
            </a:r>
            <a:r>
              <a:rPr lang="ru-RU" dirty="0"/>
              <a:t> е </a:t>
            </a:r>
            <a:r>
              <a:rPr lang="ru-RU" dirty="0" err="1"/>
              <a:t>fuzzy</a:t>
            </a:r>
            <a:r>
              <a:rPr lang="ru-RU" dirty="0"/>
              <a:t> </a:t>
            </a:r>
            <a:r>
              <a:rPr lang="ru-RU" dirty="0" err="1"/>
              <a:t>matching</a:t>
            </a:r>
            <a:r>
              <a:rPr lang="ru-RU" dirty="0"/>
              <a:t> за </a:t>
            </a:r>
            <a:r>
              <a:rPr lang="ru-RU" dirty="0" err="1"/>
              <a:t>справяне</a:t>
            </a:r>
            <a:r>
              <a:rPr lang="ru-RU" dirty="0"/>
              <a:t> с грешки от PDF </a:t>
            </a:r>
            <a:r>
              <a:rPr lang="ru-RU" dirty="0" err="1"/>
              <a:t>извличането</a:t>
            </a:r>
            <a:r>
              <a:rPr lang="ru-RU" dirty="0" smtClean="0"/>
              <a:t>.</a:t>
            </a:r>
            <a:endParaRPr lang="ru-RU" dirty="0"/>
          </a:p>
          <a:p>
            <a:pPr>
              <a:buFont typeface="Courier New" panose="02070309020205020404" pitchFamily="49" charset="0"/>
              <a:buChar char="o"/>
            </a:pPr>
            <a:r>
              <a:rPr lang="bg-BG" dirty="0"/>
              <a:t>Игнорира се първото срещане на заглавията </a:t>
            </a:r>
            <a:r>
              <a:rPr lang="en-US" dirty="0"/>
              <a:t>(</a:t>
            </a:r>
            <a:r>
              <a:rPr lang="bg-BG" dirty="0"/>
              <a:t>индексът</a:t>
            </a:r>
            <a:r>
              <a:rPr lang="en-US" dirty="0" smtClean="0"/>
              <a:t>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925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443" y="624110"/>
            <a:ext cx="8911687" cy="1280890"/>
          </a:xfrm>
        </p:spPr>
        <p:txBody>
          <a:bodyPr/>
          <a:lstStyle/>
          <a:p>
            <a:r>
              <a:rPr lang="en-US" dirty="0" smtClean="0"/>
              <a:t>Chunking </a:t>
            </a:r>
            <a:r>
              <a:rPr lang="bg-BG" dirty="0" smtClean="0"/>
              <a:t>стратегия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11717" y="1264555"/>
            <a:ext cx="4623352" cy="4416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Примерен </a:t>
            </a:r>
            <a:r>
              <a:rPr lang="en-US" dirty="0" smtClean="0"/>
              <a:t>chunk: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{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    "</a:t>
            </a:r>
            <a:r>
              <a:rPr lang="ru-RU" dirty="0" err="1"/>
              <a:t>vector_id</a:t>
            </a:r>
            <a:r>
              <a:rPr lang="ru-RU" dirty="0"/>
              <a:t>": 497,</a:t>
            </a:r>
          </a:p>
          <a:p>
            <a:pPr marL="0" indent="0">
              <a:buNone/>
            </a:pPr>
            <a:r>
              <a:rPr lang="ru-RU" dirty="0"/>
              <a:t>    "</a:t>
            </a:r>
            <a:r>
              <a:rPr lang="ru-RU" dirty="0" err="1"/>
              <a:t>medicine_name</a:t>
            </a:r>
            <a:r>
              <a:rPr lang="ru-RU" dirty="0"/>
              <a:t>": "</a:t>
            </a:r>
            <a:r>
              <a:rPr lang="ru-RU" dirty="0" err="1"/>
              <a:t>брауновидон</a:t>
            </a:r>
            <a:r>
              <a:rPr lang="ru-RU" dirty="0"/>
              <a:t>",</a:t>
            </a:r>
          </a:p>
          <a:p>
            <a:pPr marL="0" indent="0">
              <a:buNone/>
            </a:pPr>
            <a:r>
              <a:rPr lang="ru-RU" dirty="0"/>
              <a:t>    "</a:t>
            </a:r>
            <a:r>
              <a:rPr lang="ru-RU" dirty="0" err="1"/>
              <a:t>section_id</a:t>
            </a:r>
            <a:r>
              <a:rPr lang="ru-RU" dirty="0"/>
              <a:t>": "4",</a:t>
            </a:r>
          </a:p>
          <a:p>
            <a:pPr marL="0" indent="0">
              <a:buNone/>
            </a:pPr>
            <a:r>
              <a:rPr lang="ru-RU" dirty="0"/>
              <a:t>    "</a:t>
            </a:r>
            <a:r>
              <a:rPr lang="ru-RU" dirty="0" err="1"/>
              <a:t>chunk_id</a:t>
            </a:r>
            <a:r>
              <a:rPr lang="ru-RU" dirty="0"/>
              <a:t>": 1,</a:t>
            </a:r>
          </a:p>
          <a:p>
            <a:pPr marL="0" indent="0">
              <a:buNone/>
            </a:pPr>
            <a:r>
              <a:rPr lang="ru-RU" dirty="0"/>
              <a:t>    "</a:t>
            </a:r>
            <a:r>
              <a:rPr lang="ru-RU" dirty="0" err="1"/>
              <a:t>chars</a:t>
            </a:r>
            <a:r>
              <a:rPr lang="ru-RU" dirty="0"/>
              <a:t>": 1423,</a:t>
            </a:r>
          </a:p>
          <a:p>
            <a:pPr marL="0" indent="0">
              <a:buNone/>
            </a:pPr>
            <a:r>
              <a:rPr lang="ru-RU" dirty="0"/>
              <a:t>    "</a:t>
            </a:r>
            <a:r>
              <a:rPr lang="ru-RU" dirty="0" err="1"/>
              <a:t>text</a:t>
            </a:r>
            <a:r>
              <a:rPr lang="ru-RU" dirty="0"/>
              <a:t>": "</a:t>
            </a:r>
            <a:r>
              <a:rPr lang="ru-RU" dirty="0" err="1" smtClean="0"/>
              <a:t>Както</a:t>
            </a:r>
            <a:r>
              <a:rPr lang="ru-RU" dirty="0" smtClean="0"/>
              <a:t> </a:t>
            </a:r>
            <a:r>
              <a:rPr lang="ru-RU" dirty="0" err="1" smtClean="0"/>
              <a:t>всички</a:t>
            </a:r>
            <a:r>
              <a:rPr lang="ru-RU" dirty="0" smtClean="0"/>
              <a:t> лекарства, </a:t>
            </a:r>
            <a:r>
              <a:rPr lang="ru-RU" dirty="0" err="1" smtClean="0"/>
              <a:t>Брауновидон</a:t>
            </a:r>
            <a:r>
              <a:rPr lang="ru-RU" dirty="0" smtClean="0"/>
              <a:t> </a:t>
            </a:r>
            <a:r>
              <a:rPr lang="ru-RU" dirty="0" err="1" smtClean="0"/>
              <a:t>може</a:t>
            </a:r>
            <a:r>
              <a:rPr lang="ru-RU" dirty="0" smtClean="0"/>
              <a:t> да </a:t>
            </a:r>
            <a:r>
              <a:rPr lang="ru-RU" dirty="0" err="1" smtClean="0"/>
              <a:t>предизвика</a:t>
            </a:r>
            <a:r>
              <a:rPr lang="ru-RU" dirty="0" smtClean="0"/>
              <a:t> </a:t>
            </a:r>
            <a:r>
              <a:rPr lang="ru-RU" dirty="0" err="1" smtClean="0"/>
              <a:t>нежелани</a:t>
            </a:r>
            <a:r>
              <a:rPr lang="ru-RU" dirty="0" smtClean="0"/>
              <a:t> реакции, </a:t>
            </a:r>
            <a:r>
              <a:rPr lang="ru-RU" dirty="0" err="1" smtClean="0"/>
              <a:t>въпреки</a:t>
            </a:r>
            <a:r>
              <a:rPr lang="ru-RU" dirty="0" smtClean="0"/>
              <a:t> че не </a:t>
            </a:r>
            <a:r>
              <a:rPr lang="ru-RU" dirty="0" err="1" smtClean="0"/>
              <a:t>всеки</a:t>
            </a:r>
            <a:r>
              <a:rPr lang="ru-RU" dirty="0" smtClean="0"/>
              <a:t> </a:t>
            </a:r>
            <a:r>
              <a:rPr lang="ru-RU" dirty="0" err="1" smtClean="0"/>
              <a:t>ги</a:t>
            </a:r>
            <a:r>
              <a:rPr lang="ru-RU" dirty="0" smtClean="0"/>
              <a:t> </a:t>
            </a:r>
            <a:r>
              <a:rPr lang="ru-RU" dirty="0" err="1" smtClean="0"/>
              <a:t>получава</a:t>
            </a:r>
            <a:r>
              <a:rPr lang="ru-RU" dirty="0" smtClean="0"/>
              <a:t>…</a:t>
            </a:r>
            <a:r>
              <a:rPr lang="ru-RU" dirty="0"/>
              <a:t>  },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0457" y="1619119"/>
            <a:ext cx="5250802" cy="49296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Разделяне на секция на подсекции с  максимално дължина 1500 символа</a:t>
            </a:r>
            <a:r>
              <a:rPr lang="en-US" dirty="0" smtClean="0"/>
              <a:t>, </a:t>
            </a:r>
            <a:r>
              <a:rPr lang="bg-BG" dirty="0" smtClean="0"/>
              <a:t>за по-бързо четене от генериращия модел.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Използване на 100 символа припокриване между подсекции</a:t>
            </a:r>
            <a:r>
              <a:rPr lang="en-US" dirty="0" smtClean="0"/>
              <a:t>, </a:t>
            </a:r>
            <a:r>
              <a:rPr lang="bg-BG" dirty="0" smtClean="0"/>
              <a:t>за да не се отреже важна информация.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Съхраняване на подходящи метаданни за всяка подсекция</a:t>
            </a:r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7711717" y="1619119"/>
            <a:ext cx="4250128" cy="3867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667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Embeddings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// TODO </a:t>
            </a:r>
            <a:r>
              <a:rPr lang="bg-BG" dirty="0" smtClean="0"/>
              <a:t>СТЕН добави каквото смяташ за нужно тук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8247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Извличане и генериране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// TODO – </a:t>
            </a:r>
            <a:r>
              <a:rPr lang="bg-BG" dirty="0" smtClean="0"/>
              <a:t>Сами добави тук каквото сметнеш за нужно – може и да махнеш слайда ако искаш</a:t>
            </a:r>
            <a:r>
              <a:rPr lang="en-US" dirty="0" smtClean="0"/>
              <a:t>, </a:t>
            </a:r>
            <a:r>
              <a:rPr lang="bg-BG" dirty="0" smtClean="0"/>
              <a:t>защото в следващите ще има </a:t>
            </a:r>
            <a:r>
              <a:rPr lang="en-US" dirty="0" smtClean="0"/>
              <a:t>prompts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5856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280" y="0"/>
            <a:ext cx="8911687" cy="1280890"/>
          </a:xfrm>
        </p:spPr>
        <p:txBody>
          <a:bodyPr/>
          <a:lstStyle/>
          <a:p>
            <a:r>
              <a:rPr lang="bg-BG" dirty="0" smtClean="0"/>
              <a:t>Използвани технологии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// TODO – </a:t>
            </a:r>
            <a:r>
              <a:rPr lang="bg-BG" dirty="0" smtClean="0"/>
              <a:t>добавете разни работи</a:t>
            </a:r>
            <a:endParaRPr lang="bg-BG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478504"/>
              </p:ext>
            </p:extLst>
          </p:nvPr>
        </p:nvGraphicFramePr>
        <p:xfrm>
          <a:off x="2132013" y="1443134"/>
          <a:ext cx="8915400" cy="4612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705">
                  <a:extLst>
                    <a:ext uri="{9D8B030D-6E8A-4147-A177-3AD203B41FA5}">
                      <a16:colId xmlns:a16="http://schemas.microsoft.com/office/drawing/2014/main" val="948734275"/>
                    </a:ext>
                  </a:extLst>
                </a:gridCol>
                <a:gridCol w="6652695">
                  <a:extLst>
                    <a:ext uri="{9D8B030D-6E8A-4147-A177-3AD203B41FA5}">
                      <a16:colId xmlns:a16="http://schemas.microsoft.com/office/drawing/2014/main" val="162893976"/>
                    </a:ext>
                  </a:extLst>
                </a:gridCol>
              </a:tblGrid>
              <a:tr h="658919">
                <a:tc>
                  <a:txBody>
                    <a:bodyPr/>
                    <a:lstStyle/>
                    <a:p>
                      <a:r>
                        <a:rPr lang="bg-BG" dirty="0" smtClean="0"/>
                        <a:t>Технология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Роля</a:t>
                      </a:r>
                      <a:r>
                        <a:rPr lang="bg-BG" baseline="0" dirty="0" smtClean="0"/>
                        <a:t> в проекта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31504"/>
                  </a:ext>
                </a:extLst>
              </a:tr>
              <a:tr h="658919">
                <a:tc>
                  <a:txBody>
                    <a:bodyPr/>
                    <a:lstStyle/>
                    <a:p>
                      <a:r>
                        <a:rPr lang="en-US" dirty="0" smtClean="0"/>
                        <a:t>Python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Основен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език</a:t>
                      </a:r>
                      <a:r>
                        <a:rPr lang="ru-RU" dirty="0" smtClean="0"/>
                        <a:t> за обработка на </a:t>
                      </a:r>
                      <a:r>
                        <a:rPr lang="ru-RU" dirty="0" err="1" smtClean="0"/>
                        <a:t>данните</a:t>
                      </a:r>
                      <a:r>
                        <a:rPr lang="ru-RU" dirty="0" smtClean="0"/>
                        <a:t>, </a:t>
                      </a:r>
                      <a:r>
                        <a:rPr lang="ru-RU" dirty="0" err="1" smtClean="0"/>
                        <a:t>изграждане</a:t>
                      </a:r>
                      <a:r>
                        <a:rPr lang="ru-RU" dirty="0" smtClean="0"/>
                        <a:t> на RAG </a:t>
                      </a:r>
                      <a:r>
                        <a:rPr lang="ru-RU" dirty="0" err="1" smtClean="0"/>
                        <a:t>pipeline</a:t>
                      </a:r>
                      <a:r>
                        <a:rPr lang="ru-RU" dirty="0" smtClean="0"/>
                        <a:t> и интеграция на </a:t>
                      </a:r>
                      <a:r>
                        <a:rPr lang="ru-RU" dirty="0" err="1" smtClean="0"/>
                        <a:t>всички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компоненти</a:t>
                      </a:r>
                      <a:r>
                        <a:rPr lang="ru-RU" dirty="0" smtClean="0"/>
                        <a:t>.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250084"/>
                  </a:ext>
                </a:extLst>
              </a:tr>
              <a:tr h="658919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RapidFuzz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Използван</a:t>
                      </a:r>
                      <a:r>
                        <a:rPr lang="ru-RU" dirty="0" smtClean="0"/>
                        <a:t> за </a:t>
                      </a:r>
                      <a:r>
                        <a:rPr lang="ru-RU" dirty="0" err="1" smtClean="0"/>
                        <a:t>fuzzy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matching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заглавията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секциите</a:t>
                      </a:r>
                      <a:r>
                        <a:rPr lang="ru-RU" dirty="0" smtClean="0"/>
                        <a:t> при грешки от </a:t>
                      </a:r>
                      <a:r>
                        <a:rPr lang="ru-RU" dirty="0" err="1" smtClean="0"/>
                        <a:t>извличането</a:t>
                      </a:r>
                      <a:r>
                        <a:rPr lang="ru-RU" dirty="0" smtClean="0"/>
                        <a:t> на текста от PDF.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91559"/>
                  </a:ext>
                </a:extLst>
              </a:tr>
              <a:tr h="658919">
                <a:tc>
                  <a:txBody>
                    <a:bodyPr/>
                    <a:lstStyle/>
                    <a:p>
                      <a:r>
                        <a:rPr lang="en-US" dirty="0" smtClean="0"/>
                        <a:t>[</a:t>
                      </a:r>
                      <a:r>
                        <a:rPr lang="bg-BG" dirty="0" smtClean="0"/>
                        <a:t>име</a:t>
                      </a:r>
                      <a:r>
                        <a:rPr lang="bg-BG" baseline="0" dirty="0" smtClean="0"/>
                        <a:t> на ген. модел</a:t>
                      </a:r>
                      <a:r>
                        <a:rPr lang="en-US" dirty="0" smtClean="0"/>
                        <a:t>]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519870"/>
                  </a:ext>
                </a:extLst>
              </a:tr>
              <a:tr h="658919">
                <a:tc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29430"/>
                  </a:ext>
                </a:extLst>
              </a:tr>
              <a:tr h="658919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57024"/>
                  </a:ext>
                </a:extLst>
              </a:tr>
              <a:tr h="658919">
                <a:tc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034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28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Резултати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// TODO – </a:t>
            </a:r>
            <a:r>
              <a:rPr lang="bg-BG" dirty="0" err="1" smtClean="0"/>
              <a:t>скрийншоти</a:t>
            </a:r>
            <a:r>
              <a:rPr lang="en-US" dirty="0" smtClean="0"/>
              <a:t>/</a:t>
            </a:r>
            <a:r>
              <a:rPr lang="bg-BG" dirty="0" smtClean="0"/>
              <a:t>копирани примерни </a:t>
            </a:r>
            <a:r>
              <a:rPr lang="bg-BG" dirty="0" err="1" smtClean="0"/>
              <a:t>промптове</a:t>
            </a:r>
            <a:r>
              <a:rPr lang="bg-BG" dirty="0" smtClean="0"/>
              <a:t> с отговори </a:t>
            </a:r>
            <a:r>
              <a:rPr lang="en-US" dirty="0" smtClean="0"/>
              <a:t>(</a:t>
            </a:r>
            <a:r>
              <a:rPr lang="bg-BG" dirty="0" smtClean="0"/>
              <a:t>според </a:t>
            </a:r>
            <a:r>
              <a:rPr lang="en-US" dirty="0" err="1" smtClean="0"/>
              <a:t>gpt</a:t>
            </a:r>
            <a:r>
              <a:rPr lang="en-US" dirty="0" smtClean="0"/>
              <a:t> </a:t>
            </a:r>
            <a:r>
              <a:rPr lang="bg-BG" dirty="0" smtClean="0"/>
              <a:t>може графики за </a:t>
            </a:r>
            <a:r>
              <a:rPr lang="en-US" dirty="0" smtClean="0"/>
              <a:t>precision, recall</a:t>
            </a:r>
            <a:r>
              <a:rPr lang="bg-BG" dirty="0" smtClean="0"/>
              <a:t> ама ние като не знаем за всеки въпрос точния отговор</a:t>
            </a:r>
            <a:r>
              <a:rPr lang="en-US" dirty="0"/>
              <a:t> </a:t>
            </a:r>
            <a:r>
              <a:rPr lang="bg-BG" dirty="0" smtClean="0"/>
              <a:t>става трудно – може би с въпроси от типа </a:t>
            </a:r>
            <a:r>
              <a:rPr lang="en-US" dirty="0" smtClean="0"/>
              <a:t>“</a:t>
            </a:r>
            <a:r>
              <a:rPr lang="bg-BG" dirty="0" smtClean="0"/>
              <a:t>как се приема </a:t>
            </a:r>
            <a:r>
              <a:rPr lang="en-US" dirty="0" smtClean="0"/>
              <a:t>[</a:t>
            </a:r>
            <a:r>
              <a:rPr lang="bg-BG" dirty="0" smtClean="0"/>
              <a:t>име на лекарство</a:t>
            </a:r>
            <a:r>
              <a:rPr lang="en-US" dirty="0" smtClean="0"/>
              <a:t>]</a:t>
            </a:r>
            <a:r>
              <a:rPr lang="en-US" dirty="0"/>
              <a:t>?</a:t>
            </a:r>
            <a:r>
              <a:rPr lang="en-US" dirty="0" smtClean="0"/>
              <a:t>”)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6275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Сравнение на подходи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// </a:t>
            </a:r>
            <a:r>
              <a:rPr lang="bg-BG" dirty="0" smtClean="0"/>
              <a:t>Според </a:t>
            </a:r>
            <a:r>
              <a:rPr lang="en-US" dirty="0" smtClean="0"/>
              <a:t>GPT </a:t>
            </a:r>
            <a:r>
              <a:rPr lang="bg-BG" dirty="0" smtClean="0"/>
              <a:t>тук да кажем кога е по-добър резултата и кога по-лош </a:t>
            </a:r>
            <a:r>
              <a:rPr lang="en-US" dirty="0" smtClean="0"/>
              <a:t>(</a:t>
            </a:r>
            <a:r>
              <a:rPr lang="bg-BG" dirty="0" smtClean="0"/>
              <a:t>например ако променим цепенето на данните</a:t>
            </a:r>
            <a:r>
              <a:rPr lang="en-US" dirty="0" smtClean="0"/>
              <a:t>, </a:t>
            </a:r>
            <a:r>
              <a:rPr lang="bg-BG" dirty="0" smtClean="0"/>
              <a:t>или ако опитваме с различни модели</a:t>
            </a:r>
            <a:r>
              <a:rPr lang="en-US" dirty="0" smtClean="0"/>
              <a:t>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4988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Недостатъци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2282890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 err="1" smtClean="0"/>
              <a:t>Някои</a:t>
            </a:r>
            <a:r>
              <a:rPr lang="ru-RU" dirty="0" smtClean="0"/>
              <a:t> </a:t>
            </a:r>
            <a:r>
              <a:rPr lang="ru-RU" dirty="0"/>
              <a:t>PDF </a:t>
            </a:r>
            <a:r>
              <a:rPr lang="ru-RU" dirty="0" err="1"/>
              <a:t>файлове</a:t>
            </a:r>
            <a:r>
              <a:rPr lang="ru-RU" dirty="0"/>
              <a:t> се </a:t>
            </a:r>
            <a:r>
              <a:rPr lang="ru-RU" dirty="0" err="1"/>
              <a:t>извличат</a:t>
            </a:r>
            <a:r>
              <a:rPr lang="ru-RU" dirty="0"/>
              <a:t> </a:t>
            </a:r>
            <a:r>
              <a:rPr lang="ru-RU" dirty="0" err="1"/>
              <a:t>лошо</a:t>
            </a:r>
            <a:r>
              <a:rPr lang="ru-RU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 smtClean="0"/>
              <a:t>Системата</a:t>
            </a:r>
            <a:r>
              <a:rPr lang="ru-RU" dirty="0" smtClean="0"/>
              <a:t> </a:t>
            </a:r>
            <a:r>
              <a:rPr lang="ru-RU" dirty="0"/>
              <a:t>не </a:t>
            </a:r>
            <a:r>
              <a:rPr lang="ru-RU" dirty="0" err="1"/>
              <a:t>замества</a:t>
            </a:r>
            <a:r>
              <a:rPr lang="ru-RU" dirty="0"/>
              <a:t> </a:t>
            </a:r>
            <a:r>
              <a:rPr lang="ru-RU" dirty="0" err="1"/>
              <a:t>лекар</a:t>
            </a:r>
            <a:r>
              <a:rPr lang="ru-RU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/>
              <a:t>Възможни</a:t>
            </a:r>
            <a:r>
              <a:rPr lang="ru-RU" dirty="0"/>
              <a:t> </a:t>
            </a:r>
            <a:r>
              <a:rPr lang="ru-RU" dirty="0" err="1"/>
              <a:t>халюцинации</a:t>
            </a:r>
            <a:r>
              <a:rPr lang="ru-RU" dirty="0"/>
              <a:t> на LLM.</a:t>
            </a:r>
          </a:p>
        </p:txBody>
      </p:sp>
    </p:spTree>
    <p:extLst>
      <p:ext uri="{BB962C8B-B14F-4D97-AF65-F5344CB8AC3E}">
        <p14:creationId xmlns:p14="http://schemas.microsoft.com/office/powerpoint/2010/main" val="66410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Подобрения </a:t>
            </a:r>
            <a:r>
              <a:rPr lang="en-US" dirty="0" smtClean="0"/>
              <a:t>// TODO – maybe change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Използване на модел</a:t>
            </a:r>
            <a:r>
              <a:rPr lang="en-US" dirty="0" smtClean="0"/>
              <a:t> (</a:t>
            </a:r>
            <a:r>
              <a:rPr lang="bg-BG" dirty="0" smtClean="0"/>
              <a:t>сами – подробности </a:t>
            </a:r>
            <a:r>
              <a:rPr lang="en-US" dirty="0" err="1" smtClean="0"/>
              <a:t>pls</a:t>
            </a:r>
            <a:r>
              <a:rPr lang="en-US" dirty="0" smtClean="0"/>
              <a:t>)</a:t>
            </a:r>
            <a:r>
              <a:rPr lang="bg-BG" dirty="0" smtClean="0"/>
              <a:t> за изчистване на данните </a:t>
            </a:r>
            <a:r>
              <a:rPr lang="en-US" dirty="0" smtClean="0"/>
              <a:t>(</a:t>
            </a:r>
            <a:r>
              <a:rPr lang="bg-BG" dirty="0" smtClean="0"/>
              <a:t>скъпо</a:t>
            </a:r>
            <a:r>
              <a:rPr lang="en-US" dirty="0" smtClean="0"/>
              <a:t>)</a:t>
            </a:r>
            <a:r>
              <a:rPr lang="bg-BG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dirty="0" smtClean="0"/>
              <a:t>Използване на генеративни модели</a:t>
            </a:r>
            <a:r>
              <a:rPr lang="en-US" dirty="0" smtClean="0"/>
              <a:t>, </a:t>
            </a:r>
            <a:r>
              <a:rPr lang="bg-BG" dirty="0" smtClean="0"/>
              <a:t>които са по-добре тренирани върху български език.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8678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Демонстрация – </a:t>
            </a:r>
            <a:r>
              <a:rPr lang="en-US" dirty="0" err="1" smtClean="0"/>
              <a:t>todo</a:t>
            </a:r>
            <a:r>
              <a:rPr lang="en-US" dirty="0" smtClean="0"/>
              <a:t>: </a:t>
            </a:r>
            <a:r>
              <a:rPr lang="bg-BG" dirty="0" smtClean="0"/>
              <a:t>може би не е нужно</a:t>
            </a:r>
            <a:r>
              <a:rPr lang="en-US" dirty="0" smtClean="0"/>
              <a:t>, </a:t>
            </a:r>
            <a:r>
              <a:rPr lang="bg-BG" dirty="0" err="1" smtClean="0"/>
              <a:t>махнет</a:t>
            </a:r>
            <a:r>
              <a:rPr lang="bg-BG" dirty="0" smtClean="0"/>
              <a:t> този слайд ако искате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3 изображения</a:t>
            </a:r>
            <a:r>
              <a:rPr lang="en-US" dirty="0" smtClean="0"/>
              <a:t>/</a:t>
            </a:r>
            <a:r>
              <a:rPr lang="bg-BG" dirty="0" smtClean="0"/>
              <a:t>текста – примерен </a:t>
            </a:r>
            <a:r>
              <a:rPr lang="bg-BG" dirty="0" err="1" smtClean="0"/>
              <a:t>промпт</a:t>
            </a:r>
            <a:r>
              <a:rPr lang="en-US" dirty="0" smtClean="0"/>
              <a:t>, </a:t>
            </a:r>
            <a:r>
              <a:rPr lang="bg-BG" dirty="0" smtClean="0"/>
              <a:t>отговор към него</a:t>
            </a:r>
            <a:r>
              <a:rPr lang="en-US" dirty="0" smtClean="0"/>
              <a:t>,</a:t>
            </a:r>
            <a:r>
              <a:rPr lang="bg-BG" dirty="0" smtClean="0"/>
              <a:t> съответният </a:t>
            </a:r>
            <a:r>
              <a:rPr lang="en-US" dirty="0" smtClean="0"/>
              <a:t>chunk </a:t>
            </a:r>
            <a:r>
              <a:rPr lang="bg-BG" dirty="0" smtClean="0"/>
              <a:t>за този отговор</a:t>
            </a:r>
            <a:r>
              <a:rPr lang="en-US" dirty="0" smtClean="0"/>
              <a:t>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1831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Благодарим за вниманието!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17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111</TotalTime>
  <Words>507</Words>
  <Application>Microsoft Office PowerPoint</Application>
  <PresentationFormat>Widescreen</PresentationFormat>
  <Paragraphs>78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Courier New</vt:lpstr>
      <vt:lpstr>Wingdings</vt:lpstr>
      <vt:lpstr>Wingdings 3</vt:lpstr>
      <vt:lpstr>Wisp</vt:lpstr>
      <vt:lpstr>RAG асистент за лекарства</vt:lpstr>
      <vt:lpstr>Задача и мотивация</vt:lpstr>
      <vt:lpstr>Предизвикателства</vt:lpstr>
      <vt:lpstr>Предизвикателства</vt:lpstr>
      <vt:lpstr>Общ преглед на решението</vt:lpstr>
      <vt:lpstr>Подготовка на данните</vt:lpstr>
      <vt:lpstr>Сегментиране по секции</vt:lpstr>
      <vt:lpstr>Chunking стратегия</vt:lpstr>
      <vt:lpstr>Embeddings</vt:lpstr>
      <vt:lpstr>Извличане и генериране</vt:lpstr>
      <vt:lpstr>Използвани технологии // TODO – добавете разни работи</vt:lpstr>
      <vt:lpstr>Резултати</vt:lpstr>
      <vt:lpstr>Сравнение на подходи</vt:lpstr>
      <vt:lpstr>Недостатъци</vt:lpstr>
      <vt:lpstr>Подобрения // TODO – maybe change title</vt:lpstr>
      <vt:lpstr>Демонстрация – todo: може би не е нужно, махнет този слайд ако искате</vt:lpstr>
      <vt:lpstr>Благодарим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асистент за лекарства</dc:title>
  <dc:creator>User</dc:creator>
  <cp:lastModifiedBy>User</cp:lastModifiedBy>
  <cp:revision>18</cp:revision>
  <dcterms:created xsi:type="dcterms:W3CDTF">2026-06-08T08:02:54Z</dcterms:created>
  <dcterms:modified xsi:type="dcterms:W3CDTF">2026-06-08T09:54:36Z</dcterms:modified>
</cp:coreProperties>
</file>
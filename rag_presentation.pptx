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2" r:id="rId18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/>
              <a:t>RAG </a:t>
            </a:r>
            <a:r>
              <a:rPr lang="bg-BG" dirty="0"/>
              <a:t>асистент за лекарства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/>
              <a:t>Стилиян Кожухаров</a:t>
            </a:r>
            <a:r>
              <a:rPr lang="en-US" dirty="0"/>
              <a:t>, </a:t>
            </a:r>
            <a:r>
              <a:rPr lang="bg-BG" dirty="0"/>
              <a:t>Илиян </a:t>
            </a:r>
            <a:r>
              <a:rPr lang="bg-BG" dirty="0" err="1"/>
              <a:t>Свечев</a:t>
            </a:r>
            <a:r>
              <a:rPr lang="en-US" dirty="0"/>
              <a:t>, </a:t>
            </a:r>
            <a:r>
              <a:rPr lang="bg-BG" dirty="0"/>
              <a:t>Самуил Илиев</a:t>
            </a:r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Задача и мотивация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нежеланите</a:t>
            </a:r>
            <a:r>
              <a:rPr lang="ru-RU" dirty="0"/>
              <a:t> реакции?“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Дълги</a:t>
            </a:r>
            <a:r>
              <a:rPr lang="ru-RU" dirty="0"/>
              <a:t> </a:t>
            </a:r>
            <a:r>
              <a:rPr lang="ru-RU" dirty="0" err="1"/>
              <a:t>документи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Медицинска</a:t>
            </a:r>
            <a:r>
              <a:rPr lang="ru-RU" dirty="0"/>
              <a:t> 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/>
              <a:t>PDF </a:t>
            </a:r>
            <a:r>
              <a:rPr lang="bg-BG" dirty="0"/>
              <a:t>на листовка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/>
              <a:t>След извличане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ransition spd="slow">
    <p:wipe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Общ преглед на решението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  <a:endParaRPr lang="en-US" dirty="0"/>
          </a:p>
          <a:p>
            <a:r>
              <a:rPr lang="bg-BG" dirty="0"/>
              <a:t>Сегментиране по секции</a:t>
            </a:r>
            <a:r>
              <a:rPr lang="en-US" dirty="0"/>
              <a:t> </a:t>
            </a:r>
            <a:endParaRPr lang="bg-BG" dirty="0"/>
          </a:p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  <a:p>
            <a:r>
              <a:rPr lang="en-US" dirty="0" err="1"/>
              <a:t>Embeddings</a:t>
            </a:r>
            <a:endParaRPr lang="bg-BG" dirty="0"/>
          </a:p>
          <a:p>
            <a:r>
              <a:rPr lang="bg-BG" dirty="0"/>
              <a:t>Извличане и генериране</a:t>
            </a:r>
          </a:p>
          <a:p>
            <a:endParaRPr lang="en-US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Източник на данни – </a:t>
            </a:r>
            <a:r>
              <a:rPr lang="bg-BG" dirty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Формат </a:t>
            </a:r>
            <a:r>
              <a:rPr lang="en-US" dirty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Конвертиране</a:t>
            </a:r>
            <a:r>
              <a:rPr lang="ru-RU" dirty="0"/>
              <a:t> 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Брой</a:t>
            </a:r>
            <a:r>
              <a:rPr lang="ru-RU" dirty="0"/>
              <a:t>:</a:t>
            </a:r>
            <a:r>
              <a:rPr lang="en-US" dirty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1438</a:t>
            </a:r>
            <a:r>
              <a:rPr lang="ru-RU" dirty="0"/>
              <a:t> 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42</a:t>
            </a:r>
            <a:r>
              <a:rPr lang="ru-RU" dirty="0"/>
              <a:t> 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Сегментиране по секции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Известен формат</a:t>
            </a:r>
            <a:r>
              <a:rPr lang="en-US" dirty="0"/>
              <a:t> </a:t>
            </a:r>
            <a:r>
              <a:rPr lang="bg-BG" dirty="0"/>
              <a:t>на всяка листовка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1</a:t>
            </a:r>
            <a:r>
              <a:rPr lang="en-US" dirty="0"/>
              <a:t>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/>
              <a:t>...</a:t>
            </a:r>
          </a:p>
          <a:p>
            <a:pPr marL="0" indent="0">
              <a:buNone/>
            </a:pP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/>
              <a:t>секции на </a:t>
            </a:r>
            <a:r>
              <a:rPr lang="ru-RU" dirty="0" err="1"/>
              <a:t>листовките</a:t>
            </a:r>
            <a:r>
              <a:rPr lang="ru-RU" dirty="0"/>
              <a:t>.</a:t>
            </a:r>
            <a:endParaRPr lang="bg-BG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Примерен </a:t>
            </a:r>
            <a:r>
              <a:rPr lang="en-US" dirty="0"/>
              <a:t>chunk: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{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</a:t>
            </a:r>
            <a:r>
              <a:rPr lang="en-US" dirty="0"/>
              <a:t>9</a:t>
            </a:r>
            <a:r>
              <a:rPr lang="ru-RU" dirty="0"/>
              <a:t>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/>
              <a:t>Както</a:t>
            </a:r>
            <a:r>
              <a:rPr lang="ru-RU" dirty="0"/>
              <a:t> </a:t>
            </a:r>
            <a:r>
              <a:rPr lang="ru-RU" dirty="0" err="1"/>
              <a:t>всички</a:t>
            </a:r>
            <a:r>
              <a:rPr lang="ru-RU" dirty="0"/>
              <a:t> лекарства, </a:t>
            </a:r>
            <a:r>
              <a:rPr lang="ru-RU" dirty="0" err="1"/>
              <a:t>Брауновидон</a:t>
            </a:r>
            <a:r>
              <a:rPr lang="ru-RU" dirty="0"/>
              <a:t> </a:t>
            </a:r>
            <a:r>
              <a:rPr lang="ru-RU" dirty="0" err="1"/>
              <a:t>може</a:t>
            </a:r>
            <a:r>
              <a:rPr lang="ru-RU" dirty="0"/>
              <a:t> да </a:t>
            </a:r>
            <a:r>
              <a:rPr lang="ru-RU" dirty="0" err="1"/>
              <a:t>предизвика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реакции, </a:t>
            </a:r>
            <a:r>
              <a:rPr lang="ru-RU" dirty="0" err="1"/>
              <a:t>въпреки</a:t>
            </a:r>
            <a:r>
              <a:rPr lang="ru-RU" dirty="0"/>
              <a:t> че не </a:t>
            </a:r>
            <a:r>
              <a:rPr lang="ru-RU" dirty="0" err="1"/>
              <a:t>всеки</a:t>
            </a:r>
            <a:r>
              <a:rPr lang="ru-RU" dirty="0"/>
              <a:t> </a:t>
            </a:r>
            <a:r>
              <a:rPr lang="ru-RU" dirty="0" err="1"/>
              <a:t>ги</a:t>
            </a:r>
            <a:r>
              <a:rPr lang="ru-RU" dirty="0"/>
              <a:t> </a:t>
            </a:r>
            <a:r>
              <a:rPr lang="ru-RU" dirty="0" err="1"/>
              <a:t>получава</a:t>
            </a:r>
            <a:r>
              <a:rPr lang="ru-RU" dirty="0"/>
              <a:t>…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Разделяне на секция на подсекции с  максимална дължина 1</a:t>
            </a:r>
            <a:r>
              <a:rPr lang="en-US" dirty="0"/>
              <a:t>0</a:t>
            </a:r>
            <a:r>
              <a:rPr lang="bg-BG" dirty="0"/>
              <a:t>00 символа</a:t>
            </a:r>
            <a:r>
              <a:rPr lang="en-US" dirty="0"/>
              <a:t>, </a:t>
            </a:r>
            <a:r>
              <a:rPr lang="bg-BG" dirty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100 символа припокриване между подсекции</a:t>
            </a:r>
            <a:r>
              <a:rPr lang="en-US" dirty="0"/>
              <a:t>, </a:t>
            </a:r>
            <a:r>
              <a:rPr lang="bg-BG" dirty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Съхраняване на подходящи метаданни за всяка подсекция</a:t>
            </a:r>
            <a:r>
              <a:rPr lang="en-US" dirty="0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Embeddings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7084724" cy="3777622"/>
          </a:xfrm>
        </p:spPr>
        <p:txBody>
          <a:bodyPr/>
          <a:lstStyle/>
          <a:p>
            <a:r>
              <a:rPr lang="bg-BG" dirty="0"/>
              <a:t>Търсене по семантиката на думите вместо по тяхното</a:t>
            </a:r>
            <a:r>
              <a:rPr lang="en-US" dirty="0"/>
              <a:t> </a:t>
            </a:r>
            <a:r>
              <a:rPr lang="bg-BG" dirty="0"/>
              <a:t>слово</a:t>
            </a:r>
          </a:p>
          <a:p>
            <a:r>
              <a:rPr lang="bg-BG" dirty="0"/>
              <a:t>Сравнение по косинусова близост</a:t>
            </a:r>
            <a:r>
              <a:rPr lang="en-US" dirty="0"/>
              <a:t> </a:t>
            </a:r>
            <a:r>
              <a:rPr lang="bg-BG" dirty="0"/>
              <a:t>с 384-мерни вектори</a:t>
            </a:r>
          </a:p>
          <a:p>
            <a:r>
              <a:rPr lang="bg-BG" dirty="0"/>
              <a:t>Връзка между мета данните и вектор данните</a:t>
            </a:r>
            <a:endParaRPr lang="en-US" dirty="0"/>
          </a:p>
          <a:p>
            <a:r>
              <a:rPr lang="bg-BG" dirty="0"/>
              <a:t>Избраният модел е достатъчно малък за </a:t>
            </a:r>
            <a:r>
              <a:rPr lang="en-US" dirty="0"/>
              <a:t>Nearest </a:t>
            </a:r>
            <a:r>
              <a:rPr lang="en-US" dirty="0" err="1"/>
              <a:t>Neighbour</a:t>
            </a:r>
            <a:r>
              <a:rPr lang="en-US" dirty="0"/>
              <a:t> (</a:t>
            </a:r>
            <a:r>
              <a:rPr lang="en-US" dirty="0" err="1"/>
              <a:t>IndexFlatIP</a:t>
            </a:r>
            <a:r>
              <a:rPr lang="en-US" dirty="0"/>
              <a:t>) </a:t>
            </a:r>
            <a:r>
              <a:rPr lang="bg-BG" dirty="0"/>
              <a:t>вместо </a:t>
            </a:r>
            <a:r>
              <a:rPr lang="en-US" dirty="0"/>
              <a:t>Approximate Nearest </a:t>
            </a:r>
            <a:r>
              <a:rPr lang="en-US" dirty="0" err="1"/>
              <a:t>Neighbour</a:t>
            </a:r>
            <a:r>
              <a:rPr lang="en-US" dirty="0"/>
              <a:t> (IVF, HNSW)</a:t>
            </a:r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Извличане и генериране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// TODO – </a:t>
            </a:r>
            <a:r>
              <a:rPr lang="bg-BG" dirty="0"/>
              <a:t>Сами добави тук каквото сметнеш за нужно</a:t>
            </a:r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280" y="0"/>
            <a:ext cx="8911687" cy="1280890"/>
          </a:xfrm>
        </p:spPr>
        <p:txBody>
          <a:bodyPr/>
          <a:lstStyle/>
          <a:p>
            <a:r>
              <a:rPr lang="bg-BG" dirty="0"/>
              <a:t>Използвани технологии</a:t>
            </a:r>
            <a:br>
              <a:rPr lang="en-US" dirty="0"/>
            </a:br>
            <a:r>
              <a:rPr lang="en-US" dirty="0"/>
              <a:t>// TODO – </a:t>
            </a:r>
            <a:r>
              <a:rPr lang="bg-BG" dirty="0"/>
              <a:t>добавете разни работи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626609"/>
              </p:ext>
            </p:extLst>
          </p:nvPr>
        </p:nvGraphicFramePr>
        <p:xfrm>
          <a:off x="2132013" y="1443134"/>
          <a:ext cx="8915400" cy="4635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/>
                        <a:t>Технология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Роля</a:t>
                      </a:r>
                      <a:r>
                        <a:rPr lang="bg-BG" baseline="0" dirty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Основен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за обработка на </a:t>
                      </a:r>
                      <a:r>
                        <a:rPr lang="ru-RU" dirty="0" err="1"/>
                        <a:t>данните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изграждане</a:t>
                      </a:r>
                      <a:r>
                        <a:rPr lang="ru-RU" dirty="0"/>
                        <a:t> на RAG </a:t>
                      </a:r>
                      <a:r>
                        <a:rPr lang="ru-RU" dirty="0" err="1"/>
                        <a:t>pipeline</a:t>
                      </a:r>
                      <a:r>
                        <a:rPr lang="ru-RU" dirty="0"/>
                        <a:t> и интеграция на </a:t>
                      </a:r>
                      <a:r>
                        <a:rPr lang="ru-RU" dirty="0" err="1"/>
                        <a:t>всички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компоненти</a:t>
                      </a:r>
                      <a:r>
                        <a:rPr lang="ru-RU" dirty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82024">
                <a:tc>
                  <a:txBody>
                    <a:bodyPr/>
                    <a:lstStyle/>
                    <a:p>
                      <a:r>
                        <a:rPr lang="en-US" dirty="0" err="1"/>
                        <a:t>RapidFuzz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Използван</a:t>
                      </a:r>
                      <a:r>
                        <a:rPr lang="ru-RU" dirty="0"/>
                        <a:t> за </a:t>
                      </a:r>
                      <a:r>
                        <a:rPr lang="ru-RU" dirty="0" err="1"/>
                        <a:t>fuzzy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matching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заглавията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секциите</a:t>
                      </a:r>
                      <a:r>
                        <a:rPr lang="ru-RU" dirty="0"/>
                        <a:t> при грешки от </a:t>
                      </a:r>
                      <a:r>
                        <a:rPr lang="ru-RU" dirty="0" err="1"/>
                        <a:t>извличането</a:t>
                      </a:r>
                      <a:r>
                        <a:rPr lang="ru-RU" dirty="0"/>
                        <a:t> на текста от PDF.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91559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Генерира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естествени</a:t>
                      </a:r>
                      <a:r>
                        <a:rPr lang="ru-RU" dirty="0"/>
                        <a:t> отговори на </a:t>
                      </a:r>
                      <a:r>
                        <a:rPr lang="ru-RU" dirty="0" err="1"/>
                        <a:t>български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въз</a:t>
                      </a:r>
                      <a:r>
                        <a:rPr lang="ru-RU" dirty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034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// TODO – </a:t>
            </a:r>
            <a:r>
              <a:rPr lang="bg-BG" dirty="0" err="1"/>
              <a:t>скрийншоти</a:t>
            </a:r>
            <a:r>
              <a:rPr lang="en-US" dirty="0"/>
              <a:t>/</a:t>
            </a:r>
            <a:r>
              <a:rPr lang="bg-BG" dirty="0"/>
              <a:t>копирани примерни </a:t>
            </a:r>
            <a:r>
              <a:rPr lang="bg-BG" dirty="0" err="1"/>
              <a:t>промптове</a:t>
            </a:r>
            <a:r>
              <a:rPr lang="bg-BG" dirty="0"/>
              <a:t> с отговори </a:t>
            </a:r>
            <a:r>
              <a:rPr lang="en-US" dirty="0"/>
              <a:t>(</a:t>
            </a:r>
            <a:r>
              <a:rPr lang="bg-BG" dirty="0"/>
              <a:t>според </a:t>
            </a:r>
            <a:r>
              <a:rPr lang="en-US" dirty="0" err="1"/>
              <a:t>gpt</a:t>
            </a:r>
            <a:r>
              <a:rPr lang="en-US" dirty="0"/>
              <a:t> </a:t>
            </a:r>
            <a:r>
              <a:rPr lang="bg-BG" dirty="0"/>
              <a:t>може графики за </a:t>
            </a:r>
            <a:r>
              <a:rPr lang="en-US" dirty="0"/>
              <a:t>precision, recall</a:t>
            </a:r>
            <a:r>
              <a:rPr lang="bg-BG" dirty="0"/>
              <a:t> ама ние като не знаем за всеки въпрос точния отговор</a:t>
            </a:r>
            <a:r>
              <a:rPr lang="en-US" dirty="0"/>
              <a:t> </a:t>
            </a:r>
            <a:r>
              <a:rPr lang="bg-BG" dirty="0"/>
              <a:t>става трудно – може би с въпроси от типа </a:t>
            </a:r>
            <a:r>
              <a:rPr lang="en-US" dirty="0"/>
              <a:t>“</a:t>
            </a:r>
            <a:r>
              <a:rPr lang="bg-BG" dirty="0"/>
              <a:t>как се приема </a:t>
            </a:r>
            <a:r>
              <a:rPr lang="en-US" dirty="0"/>
              <a:t>[</a:t>
            </a:r>
            <a:r>
              <a:rPr lang="bg-BG" dirty="0"/>
              <a:t>име на лекарство</a:t>
            </a:r>
            <a:r>
              <a:rPr lang="en-US" dirty="0"/>
              <a:t>]?”)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96275833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Сравнение на подходи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// TODO: </a:t>
            </a:r>
            <a:r>
              <a:rPr lang="bg-BG" dirty="0"/>
              <a:t>Според </a:t>
            </a:r>
            <a:r>
              <a:rPr lang="en-US" dirty="0"/>
              <a:t>GPT </a:t>
            </a:r>
            <a:r>
              <a:rPr lang="bg-BG" dirty="0"/>
              <a:t>тук да кажем кога е по-добър резултата и кога по-лош </a:t>
            </a:r>
            <a:r>
              <a:rPr lang="en-US" dirty="0"/>
              <a:t>(</a:t>
            </a:r>
            <a:r>
              <a:rPr lang="bg-BG" dirty="0"/>
              <a:t>например ако променим цепенето на данните</a:t>
            </a:r>
            <a:r>
              <a:rPr lang="en-US" dirty="0"/>
              <a:t>, </a:t>
            </a:r>
            <a:r>
              <a:rPr lang="bg-BG" dirty="0"/>
              <a:t>или ако опитваме с различни модели</a:t>
            </a:r>
            <a:r>
              <a:rPr lang="en-US" dirty="0"/>
              <a:t>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Недостатъци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2282890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Някои</a:t>
            </a:r>
            <a:r>
              <a:rPr lang="ru-RU" dirty="0"/>
              <a:t> 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Системата</a:t>
            </a:r>
            <a:r>
              <a:rPr lang="ru-RU" dirty="0"/>
              <a:t> 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Подобрения </a:t>
            </a:r>
            <a:r>
              <a:rPr lang="en-US" dirty="0"/>
              <a:t>// TODO – maybe change title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модел</a:t>
            </a:r>
            <a:r>
              <a:rPr lang="en-US" dirty="0"/>
              <a:t> (TODO: </a:t>
            </a:r>
            <a:r>
              <a:rPr lang="bg-BG" dirty="0"/>
              <a:t>Сами – подробности </a:t>
            </a:r>
            <a:r>
              <a:rPr lang="en-US" dirty="0" err="1"/>
              <a:t>pls</a:t>
            </a:r>
            <a:r>
              <a:rPr lang="en-US" dirty="0"/>
              <a:t>)</a:t>
            </a:r>
            <a:r>
              <a:rPr lang="bg-BG" dirty="0"/>
              <a:t> за изчистване на данните </a:t>
            </a:r>
            <a:r>
              <a:rPr lang="en-US" dirty="0"/>
              <a:t>(</a:t>
            </a:r>
            <a:r>
              <a:rPr lang="bg-BG" dirty="0"/>
              <a:t>скъпо</a:t>
            </a:r>
            <a:r>
              <a:rPr lang="en-US" dirty="0"/>
              <a:t>)</a:t>
            </a:r>
            <a:r>
              <a:rPr lang="bg-BG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генеративни модели</a:t>
            </a:r>
            <a:r>
              <a:rPr lang="en-US" dirty="0"/>
              <a:t>, </a:t>
            </a:r>
            <a:r>
              <a:rPr lang="bg-BG" dirty="0"/>
              <a:t>които са по-добре тренирани върху български език.</a:t>
            </a:r>
          </a:p>
        </p:txBody>
      </p:sp>
    </p:spTree>
    <p:extLst>
      <p:ext uri="{BB962C8B-B14F-4D97-AF65-F5344CB8AC3E}">
        <p14:creationId xmlns:p14="http://schemas.microsoft.com/office/powerpoint/2010/main" val="1686784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Демонстрация</a:t>
            </a:r>
          </a:p>
        </p:txBody>
      </p:sp>
    </p:spTree>
    <p:extLst>
      <p:ext uri="{BB962C8B-B14F-4D97-AF65-F5344CB8AC3E}">
        <p14:creationId xmlns:p14="http://schemas.microsoft.com/office/powerpoint/2010/main" val="4180439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Благодарим за вниманието!</a:t>
            </a:r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4000">
        <p15:prstTrans prst="curtains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211</TotalTime>
  <Words>599</Words>
  <Application>Microsoft Office PowerPoint</Application>
  <PresentationFormat>Widescreen</PresentationFormat>
  <Paragraphs>86</Paragraphs>
  <Slides>17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</vt:lpstr>
      <vt:lpstr>Извличане и генериране</vt:lpstr>
      <vt:lpstr>Използвани технологии // TODO – добавете разни работи</vt:lpstr>
      <vt:lpstr>Резултати</vt:lpstr>
      <vt:lpstr>Сравнение на подходи</vt:lpstr>
      <vt:lpstr>Недостатъци</vt:lpstr>
      <vt:lpstr>Подобрения // TODO – maybe change title</vt:lpstr>
      <vt:lpstr>Демонстрация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Stiliyan Kozhuharov</cp:lastModifiedBy>
  <cp:revision>38</cp:revision>
  <dcterms:created xsi:type="dcterms:W3CDTF">2026-06-08T08:02:54Z</dcterms:created>
  <dcterms:modified xsi:type="dcterms:W3CDTF">2026-06-10T13:01:04Z</dcterms:modified>
</cp:coreProperties>
</file>